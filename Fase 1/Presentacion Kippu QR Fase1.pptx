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10287000" cx="18288000"/>
  <p:notesSz cx="10287000" cy="18288000"/>
  <p:embeddedFontLst>
    <p:embeddedFont>
      <p:font typeface="Fraunces"/>
      <p:regular r:id="rId22"/>
      <p:bold r:id="rId23"/>
      <p:italic r:id="rId24"/>
      <p:boldItalic r:id="rId25"/>
    </p:embeddedFont>
    <p:embeddedFont>
      <p:font typeface="Work Sans"/>
      <p:regular r:id="rId26"/>
      <p:bold r:id="rId27"/>
      <p:italic r:id="rId28"/>
      <p:boldItalic r:id="rId29"/>
    </p:embeddedFont>
    <p:embeddedFont>
      <p:font typeface="IBM Plex Mon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Fraunces-regular.fntdata"/><Relationship Id="rId21" Type="http://schemas.openxmlformats.org/officeDocument/2006/relationships/slide" Target="slides/slide17.xml"/><Relationship Id="rId24" Type="http://schemas.openxmlformats.org/officeDocument/2006/relationships/font" Target="fonts/Fraunces-italic.fntdata"/><Relationship Id="rId23" Type="http://schemas.openxmlformats.org/officeDocument/2006/relationships/font" Target="fonts/Fraunce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WorkSans-regular.fntdata"/><Relationship Id="rId25" Type="http://schemas.openxmlformats.org/officeDocument/2006/relationships/font" Target="fonts/Fraunces-boldItalic.fntdata"/><Relationship Id="rId28" Type="http://schemas.openxmlformats.org/officeDocument/2006/relationships/font" Target="fonts/WorkSans-italic.fntdata"/><Relationship Id="rId27" Type="http://schemas.openxmlformats.org/officeDocument/2006/relationships/font" Target="fonts/WorkSans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WorkSans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IBMPlexMono-bold.fntdata"/><Relationship Id="rId30" Type="http://schemas.openxmlformats.org/officeDocument/2006/relationships/font" Target="fonts/IBMPlexMono-regular.fntdata"/><Relationship Id="rId11" Type="http://schemas.openxmlformats.org/officeDocument/2006/relationships/slide" Target="slides/slide7.xml"/><Relationship Id="rId33" Type="http://schemas.openxmlformats.org/officeDocument/2006/relationships/font" Target="fonts/IBMPlexMono-boldItalic.fntdata"/><Relationship Id="rId10" Type="http://schemas.openxmlformats.org/officeDocument/2006/relationships/slide" Target="slides/slide6.xml"/><Relationship Id="rId32" Type="http://schemas.openxmlformats.org/officeDocument/2006/relationships/font" Target="fonts/IBMPlexMono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Presentarnos, nombrar el proyecto y la fase. Kippu es el sistema; Casa Causa es el restaurante del caso de estudio.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Recorrido rápido del orden de la presentación.</a:t>
            </a:r>
            <a:endParaRPr/>
          </a:p>
        </p:txBody>
      </p:sp>
      <p:sp>
        <p:nvSpPr>
          <p:cNvPr id="30" name="Google Shape;3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Qué es Kippu, por qué lo hacemos y cuál es el objetivo general.</a:t>
            </a:r>
            <a:endParaRPr/>
          </a:p>
        </p:txBody>
      </p:sp>
      <p:sp>
        <p:nvSpPr>
          <p:cNvPr id="80" name="Google Shape;8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Casa Causa es ficticio: es el caso de estudio, no un cliente real. Kippu es el sistema.</a:t>
            </a:r>
            <a:endParaRPr/>
          </a:p>
        </p:txBody>
      </p:sp>
      <p:sp>
        <p:nvSpPr>
          <p:cNvPr id="100" name="Google Shape;10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problema no es la carta en papel: es que el circuito de pedir y pagar depende de una persona.</a:t>
            </a:r>
            <a:endParaRPr/>
          </a:p>
        </p:txBody>
      </p:sp>
      <p:sp>
        <p:nvSpPr>
          <p:cNvPr id="184" name="Google Shape;18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kiosco del patio de comida, aplicado al ritmo de un restaurante. El pedido entra a cocina solo con el pago confirmado.</a:t>
            </a:r>
            <a:endParaRPr/>
          </a:p>
        </p:txBody>
      </p:sp>
      <p:sp>
        <p:nvSpPr>
          <p:cNvPr id="213" name="Google Shape;21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Recorrer las seis pantallas del cliente sin detenerse en detalles.</a:t>
            </a:r>
            <a:endParaRPr/>
          </a:p>
        </p:txBody>
      </p:sp>
      <p:sp>
        <p:nvSpPr>
          <p:cNvPr id="254" name="Google Shape;25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vista de cocina se lee de lejos y en movimiento: por eso el color por tiempo y el orden fijo.</a:t>
            </a:r>
            <a:endParaRPr/>
          </a:p>
        </p:txBody>
      </p:sp>
      <p:sp>
        <p:nvSpPr>
          <p:cNvPr id="273" name="Google Shape;2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Paga el restaurante, no el comensal. Tramo único, sin comisión por venta.</a:t>
            </a:r>
            <a:endParaRPr/>
          </a:p>
        </p:txBody>
      </p:sp>
      <p:sp>
        <p:nvSpPr>
          <p:cNvPr id="296" name="Google Shape;29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Monolito modular en Django. La cadena Sesión → Comensal → Pedido es lo que hace que la cuenta dividida salga gratis.</a:t>
            </a:r>
            <a:endParaRPr/>
          </a:p>
        </p:txBody>
      </p:sp>
      <p:sp>
        <p:nvSpPr>
          <p:cNvPr id="351" name="Google Shape;35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2" name="Google Shape;39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Minimización de datos por la Ley 21.719, vigente desde el 1 de diciembre de 2026.</a:t>
            </a:r>
            <a:endParaRPr/>
          </a:p>
        </p:txBody>
      </p:sp>
      <p:sp>
        <p:nvSpPr>
          <p:cNvPr id="393" name="Google Shape;39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8" name="Google Shape;41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Fases para la documentación, sprints de dos semanas para el desarrollo. Dos ejes que se cruzan en la regla del total.</a:t>
            </a:r>
            <a:endParaRPr/>
          </a:p>
        </p:txBody>
      </p:sp>
      <p:sp>
        <p:nvSpPr>
          <p:cNvPr id="419" name="Google Shape;41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corte de la semana 10 es la evaluación de avance: hasta ahí, el flujo completo antes de pagar.</a:t>
            </a:r>
            <a:endParaRPr/>
          </a:p>
        </p:txBody>
      </p:sp>
      <p:sp>
        <p:nvSpPr>
          <p:cNvPr id="455" name="Google Shape;45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8" name="Google Shape;50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pauta exige dos competencias; el proyecto cubre cuatro de forma directa.</a:t>
            </a:r>
            <a:endParaRPr/>
          </a:p>
        </p:txBody>
      </p:sp>
      <p:sp>
        <p:nvSpPr>
          <p:cNvPr id="509" name="Google Shape;50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4" name="Google Shape;55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primer riesgo ya ocurrió y está resuelto.</a:t>
            </a:r>
            <a:endParaRPr/>
          </a:p>
        </p:txBody>
      </p:sp>
      <p:sp>
        <p:nvSpPr>
          <p:cNvPr id="555" name="Google Shape;55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4" name="Google Shape;58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Qué construimos, por qué se sostiene y qué habrá en la semana 15.</a:t>
            </a:r>
            <a:endParaRPr/>
          </a:p>
        </p:txBody>
      </p:sp>
      <p:sp>
        <p:nvSpPr>
          <p:cNvPr id="585" name="Google Shape;585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9" name="Google Shape;60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Cerrar y abrir preguntas.</a:t>
            </a:r>
            <a:endParaRPr/>
          </a:p>
        </p:txBody>
      </p:sp>
      <p:sp>
        <p:nvSpPr>
          <p:cNvPr id="610" name="Google Shape;610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transition spd="med"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9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23.png"/><Relationship Id="rId7" Type="http://schemas.openxmlformats.org/officeDocument/2006/relationships/image" Target="../media/image31.png"/><Relationship Id="rId8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Relationship Id="rId4" Type="http://schemas.openxmlformats.org/officeDocument/2006/relationships/image" Target="../media/image19.png"/><Relationship Id="rId9" Type="http://schemas.openxmlformats.org/officeDocument/2006/relationships/image" Target="../media/image2.png"/><Relationship Id="rId5" Type="http://schemas.openxmlformats.org/officeDocument/2006/relationships/image" Target="../media/image28.png"/><Relationship Id="rId6" Type="http://schemas.openxmlformats.org/officeDocument/2006/relationships/image" Target="../media/image26.png"/><Relationship Id="rId7" Type="http://schemas.openxmlformats.org/officeDocument/2006/relationships/image" Target="../media/image18.png"/><Relationship Id="rId8" Type="http://schemas.openxmlformats.org/officeDocument/2006/relationships/image" Target="../media/image2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3401275" y="-497350"/>
            <a:ext cx="5366400" cy="60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40"/>
              </a:lnSpc>
              <a:spcBef>
                <a:spcPts val="0"/>
              </a:spcBef>
              <a:spcAft>
                <a:spcPts val="0"/>
              </a:spcAft>
              <a:buClr>
                <a:srgbClr val="F3EADC"/>
              </a:buClr>
              <a:buSzPts val="40000"/>
              <a:buFont typeface="Fraunces"/>
              <a:buNone/>
            </a:pPr>
            <a:r>
              <a:rPr b="0" i="0" lang="en-US" sz="40000" u="none" cap="none" strike="noStrike">
                <a:solidFill>
                  <a:srgbClr val="F3EADC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40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1911191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PROYECTO DE TÍTULO · FASE 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914400" y="2467451"/>
            <a:ext cx="7264705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973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8000"/>
              <a:buFont typeface="Fraunces"/>
              <a:buNone/>
            </a:pPr>
            <a:r>
              <a:rPr b="1" i="0" lang="en-US" sz="180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Kippu</a:t>
            </a:r>
            <a:endParaRPr b="0" i="0" sz="1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8179103" y="3037976"/>
            <a:ext cx="12573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729"/>
              </a:lnSpc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9300"/>
              <a:buFont typeface="Fraunces"/>
              <a:buNone/>
            </a:pPr>
            <a:r>
              <a:rPr b="0" i="0" lang="en-US" sz="9300" u="none" cap="none" strike="noStrike">
                <a:solidFill>
                  <a:srgbClr val="A83A22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9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914400" y="4867751"/>
            <a:ext cx="11772900" cy="1169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919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3300"/>
              <a:buFont typeface="Fraunces"/>
              <a:buNone/>
            </a:pPr>
            <a:r>
              <a:rPr b="1" i="0" lang="en-US" sz="3300" u="none" cap="none" strike="noStrike">
                <a:solidFill>
                  <a:srgbClr val="3B342B"/>
                </a:solidFill>
                <a:latin typeface="Fraunces"/>
                <a:ea typeface="Fraunces"/>
                <a:cs typeface="Fraunces"/>
                <a:sym typeface="Fraunces"/>
              </a:rPr>
              <a:t>Autopedido y pago por QR para restaurantes independientes.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14400" y="6151722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「券」kippu: boleto, en japonés.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14400" y="6936581"/>
            <a:ext cx="123825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914400" y="7212806"/>
            <a:ext cx="16952976" cy="42576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319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17140F"/>
                </a:solidFill>
                <a:latin typeface="IBM Plex Mono"/>
                <a:ea typeface="IBM Plex Mono"/>
                <a:cs typeface="IBM Plex Mono"/>
                <a:sym typeface="IBM Plex Mono"/>
              </a:rPr>
              <a:t>Sebastián Delgado y Gian Cabana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914400" y="7600474"/>
            <a:ext cx="16952976" cy="42576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319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Ingeniería en Informática · Duoc UC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914400" y="7988141"/>
            <a:ext cx="16952976" cy="42576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319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Capstone APT122/006D · Fase 1 · septiembre 2026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" name="Google Shape;26;p3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3265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914400" y="1752600"/>
            <a:ext cx="181051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Índice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914400" y="3751020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914400" y="327858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390650" y="3156660"/>
            <a:ext cx="2267462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Introducción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914400" y="4543500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914400" y="407106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390650" y="3949140"/>
            <a:ext cx="1567827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Contexto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914400" y="5335980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914400" y="486354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390650" y="4741620"/>
            <a:ext cx="2332030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Problemática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914400" y="6128460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914400" y="565602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390650" y="5534100"/>
            <a:ext cx="1507450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Solución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914400" y="6920940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914400" y="644850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390650" y="6326580"/>
            <a:ext cx="1394948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Mockup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914400" y="7713420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914400" y="724098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1390650" y="7119060"/>
            <a:ext cx="3241738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Modelo de Negocio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914400" y="8033460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1390650" y="7911540"/>
            <a:ext cx="5714560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Mapa Tecnológico y Arquitectura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9715500" y="3751796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715500" y="3279355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10191750" y="3157435"/>
            <a:ext cx="1762839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Seguridad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9715500" y="4544275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9715500" y="4071835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10191750" y="3949915"/>
            <a:ext cx="3463469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Metodología y Roles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9715500" y="5336755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9715500" y="4864315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10191750" y="4742395"/>
            <a:ext cx="2608767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Plan de trabajo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9715500" y="6129236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9715500" y="5656795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10191750" y="5534876"/>
            <a:ext cx="2447675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Competencias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9715500" y="6921716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9715500" y="6449276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10191750" y="6327355"/>
            <a:ext cx="1336536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Riesgos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9715500" y="7714196"/>
            <a:ext cx="76581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9715500" y="7241756"/>
            <a:ext cx="30480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10191750" y="7119836"/>
            <a:ext cx="1943838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Conclusión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6" name="Google Shape;76;p4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914400" y="1752600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INTRODUCCIÓN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14400" y="2213684"/>
            <a:ext cx="14716125" cy="141112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81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Un sistema de autopedido y pago por QR para restaurantes independientes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914400" y="3968486"/>
            <a:ext cx="8648053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cliente escanea un QR pegado en su mesa, ve la carta desde su propio teléfono, arma su pedido y paga antes de que el pedido entre a cocina. No hay que crear cuenta ni dejar datos personales.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914400" y="5869676"/>
            <a:ext cx="8648053" cy="12782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proyecto exige modelar datos, construir software, </a:t>
            </a:r>
            <a:r>
              <a:rPr lang="en-US" sz="210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integrar un servicio de pagos real y certificarlo con pruebas.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914400" y="7125844"/>
            <a:ext cx="8648100" cy="8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Queremos terminar la carrera con algo que funcione de punta a punta y se pueda mostrar, no con una simple maqueta.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10072569" y="3970472"/>
            <a:ext cx="7300913" cy="3772376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10072569" y="3970472"/>
            <a:ext cx="7300913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10453569" y="4355282"/>
            <a:ext cx="7192804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OBJETIVO GENERAL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10453569" y="4816292"/>
            <a:ext cx="6735080" cy="260270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849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Desarrollar un sistema web que permita a los clientes de un restaurante pedir y pagar desde su teléfono mediante un código QR, sin intervención de personal, entregando el pedido a cocina solo una vez confirmado el pago.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" name="Google Shape;96;p5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prism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  <a:effectLst>
            <a:outerShdw blurRad="101600" rotWithShape="0" algn="bl" dir="16200000" dist="50800">
              <a:srgbClr val="FBF7F0"/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6" name="Google Shape;106;p6"/>
          <p:cNvPicPr preferRelativeResize="0"/>
          <p:nvPr/>
        </p:nvPicPr>
        <p:blipFill rotWithShape="1">
          <a:blip r:embed="rId3">
            <a:alphaModFix amt="75000"/>
          </a:blip>
          <a:srcRect b="7813" l="0" r="0" t="7813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BF7F0">
              <a:alpha val="1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914400" y="1752600"/>
            <a:ext cx="1463040" cy="403860"/>
          </a:xfrm>
          <a:prstGeom prst="rect">
            <a:avLst/>
          </a:prstGeom>
          <a:solidFill>
            <a:srgbClr val="F3EADC">
              <a:alpha val="768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1066800" y="1828800"/>
            <a:ext cx="123444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CONTEXTO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914400" y="2251775"/>
            <a:ext cx="10156500" cy="756300"/>
          </a:xfrm>
          <a:prstGeom prst="rect">
            <a:avLst/>
          </a:prstGeom>
          <a:solidFill>
            <a:srgbClr val="F3EADC">
              <a:alpha val="768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1085850" y="2289885"/>
            <a:ext cx="10634901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El caso de estudio y el mercado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914400" y="3218394"/>
            <a:ext cx="6096000" cy="6195060"/>
          </a:xfrm>
          <a:prstGeom prst="rect">
            <a:avLst/>
          </a:prstGeom>
          <a:solidFill>
            <a:srgbClr val="F3EADC"/>
          </a:solidFill>
          <a:ln>
            <a:noFill/>
          </a:ln>
          <a:effectLst>
            <a:outerShdw blurRad="101600" rotWithShape="0" algn="bl" dir="16200000" dist="50800">
              <a:srgbClr val="D8D0C3">
                <a:alpha val="9960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914400" y="3218394"/>
            <a:ext cx="6096000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1295400" y="3938484"/>
            <a:ext cx="5867400" cy="6934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4200"/>
              <a:buFont typeface="Fraunces"/>
              <a:buNone/>
            </a:pPr>
            <a:r>
              <a:rPr b="1" i="0" lang="en-US" sz="42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Casa Causa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1295400" y="4860504"/>
            <a:ext cx="5494020" cy="531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7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IBM Plex Mono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cocina peruana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1295400" y="5353899"/>
            <a:ext cx="5494020" cy="531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7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IBM Plex Mono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local independiente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1295400" y="5847294"/>
            <a:ext cx="5494020" cy="531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7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IBM Plex Mono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16 mesas, 55 asientos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1295400" y="6340689"/>
            <a:ext cx="5494020" cy="531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761"/>
              </a:lnSpc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2100"/>
              <a:buFont typeface="IBM Plex Mono"/>
              <a:buNone/>
            </a:pPr>
            <a:r>
              <a:rPr b="0" i="0" lang="en-US" sz="21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ticket promedio $14.000–$19.000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295400" y="6834084"/>
            <a:ext cx="5494020" cy="531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7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IBM Plex Mono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35 productos en 5 categorías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1295400" y="7327479"/>
            <a:ext cx="5494020" cy="531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7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IBM Plex Mono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sin sistema de punto de venta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1295400" y="8125673"/>
            <a:ext cx="54940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Restaurante ficticio. Sus parámetros son supuestos del caso, no datos de mercado verificados.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7677150" y="3220382"/>
            <a:ext cx="9696450" cy="6195060"/>
          </a:xfrm>
          <a:prstGeom prst="rect">
            <a:avLst/>
          </a:prstGeom>
          <a:solidFill>
            <a:srgbClr val="F3EADC">
              <a:alpha val="76863"/>
            </a:srgbClr>
          </a:solidFill>
          <a:ln>
            <a:noFill/>
          </a:ln>
          <a:effectLst>
            <a:outerShdw blurRad="101600" rotWithShape="0" algn="bl" dir="16200000" dist="50800">
              <a:srgbClr val="D8D0C3">
                <a:alpha val="98824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10786706" y="3220382"/>
            <a:ext cx="1916192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485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MENÚ QR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12969598" y="3220382"/>
            <a:ext cx="1916192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485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TÓTEM FÍSICO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14981039" y="3220382"/>
            <a:ext cx="2182892" cy="556260"/>
          </a:xfrm>
          <a:prstGeom prst="rect">
            <a:avLst/>
          </a:prstGeom>
          <a:solidFill>
            <a:srgbClr val="F3EADC">
              <a:alpha val="968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14981039" y="3220382"/>
            <a:ext cx="2182892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15152489" y="3376592"/>
            <a:ext cx="1916192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485"/>
              </a:lnSpc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KIPPU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7886700" y="3776642"/>
            <a:ext cx="272855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7886700" y="4031912"/>
            <a:ext cx="281041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Momento del pago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10615256" y="377664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10786706" y="403191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al final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2798148" y="377664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12969598" y="403191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antes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14981039" y="3776642"/>
            <a:ext cx="2182892" cy="112776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14981039" y="377664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"/>
          <p:cNvSpPr/>
          <p:nvPr/>
        </p:nvSpPr>
        <p:spPr>
          <a:xfrm>
            <a:off x="15152489" y="403191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antes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7886700" y="4904402"/>
            <a:ext cx="272855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7886700" y="5159672"/>
            <a:ext cx="281041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Hardware necesario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10615256" y="490440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10786706" y="515967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ninguno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12798148" y="490440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12969598" y="515967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tótem dedicado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14981039" y="4904402"/>
            <a:ext cx="2182892" cy="112776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14981039" y="490440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15152489" y="515967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ninguno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7886700" y="6032162"/>
            <a:ext cx="272855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7886700" y="6287432"/>
            <a:ext cx="281041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Pedir por tandas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10615256" y="603216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10786706" y="628743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sí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12798148" y="603216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12969598" y="628743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no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14981039" y="6032162"/>
            <a:ext cx="2182892" cy="112776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14981039" y="603216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15152489" y="628743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sí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7886700" y="7159922"/>
            <a:ext cx="272855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7886700" y="7415192"/>
            <a:ext cx="281041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Cuenta dividida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10615256" y="715992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10786706" y="741519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no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12798148" y="715992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12969598" y="741519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no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4981039" y="7159922"/>
            <a:ext cx="2182892" cy="112776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14981039" y="715992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6"/>
          <p:cNvSpPr/>
          <p:nvPr/>
        </p:nvSpPr>
        <p:spPr>
          <a:xfrm>
            <a:off x="15152489" y="7415192"/>
            <a:ext cx="1916192" cy="6629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por defecto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7886700" y="9407822"/>
            <a:ext cx="272855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6"/>
          <p:cNvSpPr/>
          <p:nvPr/>
        </p:nvSpPr>
        <p:spPr>
          <a:xfrm>
            <a:off x="7886700" y="8287682"/>
            <a:ext cx="272855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7886700" y="8542952"/>
            <a:ext cx="2810412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Costo de entrada para un local chico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10615256" y="940782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10615256" y="828768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"/>
          <p:cNvSpPr/>
          <p:nvPr/>
        </p:nvSpPr>
        <p:spPr>
          <a:xfrm>
            <a:off x="10786700" y="8542949"/>
            <a:ext cx="1916100" cy="11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lang="en-US" sz="170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gratis si solo muestra la carta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12798148" y="940782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12798148" y="828768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6"/>
          <p:cNvSpPr/>
          <p:nvPr/>
        </p:nvSpPr>
        <p:spPr>
          <a:xfrm>
            <a:off x="12969598" y="8542952"/>
            <a:ext cx="1916192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inversión en equipo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14981039" y="8287682"/>
            <a:ext cx="2182892" cy="112776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"/>
          <p:cNvSpPr/>
          <p:nvPr/>
        </p:nvSpPr>
        <p:spPr>
          <a:xfrm>
            <a:off x="14981039" y="9392582"/>
            <a:ext cx="2182892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6"/>
          <p:cNvSpPr/>
          <p:nvPr/>
        </p:nvSpPr>
        <p:spPr>
          <a:xfrm>
            <a:off x="14981039" y="8287682"/>
            <a:ext cx="218289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6"/>
          <p:cNvSpPr/>
          <p:nvPr/>
        </p:nvSpPr>
        <p:spPr>
          <a:xfrm>
            <a:off x="15152489" y="8542952"/>
            <a:ext cx="191619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bajo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8" name="Google Shape;178;p6"/>
          <p:cNvPicPr preferRelativeResize="0"/>
          <p:nvPr/>
        </p:nvPicPr>
        <p:blipFill rotWithShape="1">
          <a:blip r:embed="rId4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1057275" y="823913"/>
            <a:ext cx="4002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med">
        <p14:flip dir="l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7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914400" y="1752600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PROBLEMÁTICA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914400" y="2232734"/>
            <a:ext cx="14716125" cy="143708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7429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En un restaurante, pedir y pagar exige que alguien vaya a la mesa.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914400" y="4050744"/>
            <a:ext cx="1904104" cy="28575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7"/>
          <p:cNvSpPr/>
          <p:nvPr/>
        </p:nvSpPr>
        <p:spPr>
          <a:xfrm>
            <a:off x="914400" y="4461167"/>
            <a:ext cx="7210901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Tomar la orden, traer la cuenta, volver con el datáfono. Eso ocupa personal en las horas de mayor demanda, introduce errores de transcripción, y deja el consumo sin pagar como riesgo del local.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8772525" y="4463154"/>
            <a:ext cx="7210901" cy="16916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Los menús QR que ya existen en Chile digitalizan la carta, pero mantienen el orden de siempre: </a:t>
            </a:r>
            <a:r>
              <a:rPr b="0" i="0" lang="en-US" sz="210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pedir, comer, pedir la cuenta, pagar</a:t>
            </a:r>
            <a:r>
              <a:rPr lang="en-US" sz="210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914400" y="6654059"/>
            <a:ext cx="16459200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914400" y="7004579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EL CIRCUITO ACTUAL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914400" y="7503689"/>
            <a:ext cx="1253490" cy="678180"/>
          </a:xfrm>
          <a:prstGeom prst="rect">
            <a:avLst/>
          </a:prstGeom>
          <a:solidFill>
            <a:srgbClr val="F3EADC">
              <a:alpha val="96863"/>
            </a:srgbClr>
          </a:solidFill>
          <a:ln cap="flat" cmpd="sng" w="9525">
            <a:solidFill>
              <a:srgbClr val="D8D0C3">
                <a:alpha val="9686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1169670" y="7682759"/>
            <a:ext cx="819150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pedir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2339340" y="7697999"/>
            <a:ext cx="323850" cy="327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2758440" y="7503689"/>
            <a:ext cx="1253490" cy="678180"/>
          </a:xfrm>
          <a:prstGeom prst="rect">
            <a:avLst/>
          </a:prstGeom>
          <a:solidFill>
            <a:srgbClr val="F3EADC">
              <a:alpha val="96863"/>
            </a:srgbClr>
          </a:solidFill>
          <a:ln cap="flat" cmpd="sng" w="9525">
            <a:solidFill>
              <a:srgbClr val="D8D0C3">
                <a:alpha val="9686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"/>
          <p:cNvSpPr/>
          <p:nvPr/>
        </p:nvSpPr>
        <p:spPr>
          <a:xfrm>
            <a:off x="3013710" y="7682759"/>
            <a:ext cx="819150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comer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183380" y="7697999"/>
            <a:ext cx="323850" cy="327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602480" y="7503689"/>
            <a:ext cx="2739390" cy="678180"/>
          </a:xfrm>
          <a:prstGeom prst="rect">
            <a:avLst/>
          </a:prstGeom>
          <a:solidFill>
            <a:srgbClr val="F3EADC">
              <a:alpha val="96863"/>
            </a:srgbClr>
          </a:solidFill>
          <a:ln cap="flat" cmpd="sng" w="9525">
            <a:solidFill>
              <a:srgbClr val="D8D0C3">
                <a:alpha val="9686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4857750" y="7682759"/>
            <a:ext cx="231103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pedir la cuenta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7513320" y="7697999"/>
            <a:ext cx="323850" cy="327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→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7932420" y="7511309"/>
            <a:ext cx="1238250" cy="662940"/>
          </a:xfrm>
          <a:prstGeom prst="rect">
            <a:avLst/>
          </a:prstGeom>
          <a:solidFill>
            <a:srgbClr val="A83A22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8180070" y="7682759"/>
            <a:ext cx="819150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FBF7F0"/>
                </a:solidFill>
                <a:latin typeface="IBM Plex Mono"/>
                <a:ea typeface="IBM Plex Mono"/>
                <a:cs typeface="IBM Plex Mono"/>
                <a:sym typeface="IBM Plex Mono"/>
              </a:rPr>
              <a:t>pagar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9" name="Google Shape;209;p7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914400" y="1752600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SOLUCIÓN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914400" y="2213628"/>
            <a:ext cx="15304770" cy="148875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667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“El kiosco del patio de comida, aplicado al ritmo de un restaurante.”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914400" y="3912497"/>
            <a:ext cx="15304770" cy="12782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tótem de un patio de comida es de un solo tiro: pides todo junto, pagas, te vas. Un restaurante funciona por tandas: entrada, fondo, postre. Kippu lleva ese modelo al teléfono del cliente, y elimina el hardware que hoy hace que solo exista donde hay volumen para pagarlo.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914400" y="5573406"/>
            <a:ext cx="2236946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914400" y="5771526"/>
            <a:ext cx="2460641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914400" y="6137285"/>
            <a:ext cx="2460641" cy="3600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Escanea el QR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3284696" y="5573406"/>
            <a:ext cx="223706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3284696" y="5771526"/>
            <a:ext cx="2460772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284696" y="6137285"/>
            <a:ext cx="2460772" cy="3600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Ve la carta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5655112" y="5573406"/>
            <a:ext cx="2236946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5655112" y="5771526"/>
            <a:ext cx="2460641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5655112" y="6137285"/>
            <a:ext cx="2460641" cy="3600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Arma su pedido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8025408" y="5573406"/>
            <a:ext cx="223706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8"/>
          <p:cNvSpPr/>
          <p:nvPr/>
        </p:nvSpPr>
        <p:spPr>
          <a:xfrm>
            <a:off x="8025408" y="5771526"/>
            <a:ext cx="2460772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8025408" y="6137285"/>
            <a:ext cx="2460772" cy="3600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Paga con tarjeta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10395824" y="5573406"/>
            <a:ext cx="2236946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10395824" y="5767715"/>
            <a:ext cx="2460641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10395824" y="6133476"/>
            <a:ext cx="2313146" cy="6819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Se confirma el pago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12766120" y="5573406"/>
            <a:ext cx="2237065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12766120" y="5767715"/>
            <a:ext cx="2460772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12766120" y="6133476"/>
            <a:ext cx="2460772" cy="3600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Entra a cocina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15136535" y="5573406"/>
            <a:ext cx="223706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15136535" y="5771526"/>
            <a:ext cx="2460772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15136535" y="6137285"/>
            <a:ext cx="2460772" cy="3600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118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Retira y valora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914400" y="7028426"/>
            <a:ext cx="1810512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8289"/>
              </a:lnSpc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El pedido entra a cocina solo después de que el pago está confirmado.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914400" y="7406339"/>
            <a:ext cx="16459200" cy="9525"/>
          </a:xfrm>
          <a:prstGeom prst="rect">
            <a:avLst/>
          </a:prstGeom>
          <a:solidFill>
            <a:srgbClr val="D8D0C3">
              <a:alpha val="9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914400" y="7699709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LO QUE QUEDA FUERA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914400" y="8141669"/>
            <a:ext cx="5363169" cy="111537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Efectivo. </a:t>
            </a: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Solo tarjeta; quien quiera pagar en efectivo se atiende por el flujo tradicional, con personal.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6540461" y="8141669"/>
            <a:ext cx="5363169" cy="111537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Boleta electrónica. </a:t>
            </a: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Es obligación tributaria del restaurante, la sigue emitiendo su sistema actual.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12166521" y="8141669"/>
            <a:ext cx="5363169" cy="111537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App nativa. </a:t>
            </a: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Es una página web responsive; una app obligaría a instalar algo antes de poder pedir.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0" name="Google Shape;250;p8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9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Seis pantallas, de escanear a valorar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1" name="Google Shape;261;p9"/>
          <p:cNvPicPr preferRelativeResize="0"/>
          <p:nvPr/>
        </p:nvPicPr>
        <p:blipFill rotWithShape="1">
          <a:blip r:embed="rId3">
            <a:alphaModFix/>
          </a:blip>
          <a:srcRect b="-598" l="0" r="0" t="-598"/>
          <a:stretch/>
        </p:blipFill>
        <p:spPr>
          <a:xfrm>
            <a:off x="285750" y="2490012"/>
            <a:ext cx="2857500" cy="6257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2" name="Google Shape;262;p9"/>
          <p:cNvPicPr preferRelativeResize="0"/>
          <p:nvPr/>
        </p:nvPicPr>
        <p:blipFill rotWithShape="1">
          <a:blip r:embed="rId4">
            <a:alphaModFix/>
          </a:blip>
          <a:srcRect b="-598" l="0" r="0" t="-598"/>
          <a:stretch/>
        </p:blipFill>
        <p:spPr>
          <a:xfrm>
            <a:off x="3257550" y="2490012"/>
            <a:ext cx="2857500" cy="6257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3" name="Google Shape;263;p9"/>
          <p:cNvPicPr preferRelativeResize="0"/>
          <p:nvPr/>
        </p:nvPicPr>
        <p:blipFill rotWithShape="1">
          <a:blip r:embed="rId5">
            <a:alphaModFix/>
          </a:blip>
          <a:srcRect b="-598" l="0" r="0" t="-598"/>
          <a:stretch/>
        </p:blipFill>
        <p:spPr>
          <a:xfrm>
            <a:off x="6229350" y="2490012"/>
            <a:ext cx="2857500" cy="6257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4" name="Google Shape;264;p9"/>
          <p:cNvPicPr preferRelativeResize="0"/>
          <p:nvPr/>
        </p:nvPicPr>
        <p:blipFill rotWithShape="1">
          <a:blip r:embed="rId6">
            <a:alphaModFix/>
          </a:blip>
          <a:srcRect b="-598" l="0" r="0" t="-598"/>
          <a:stretch/>
        </p:blipFill>
        <p:spPr>
          <a:xfrm>
            <a:off x="9201150" y="2490012"/>
            <a:ext cx="2857500" cy="6257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5" name="Google Shape;265;p9"/>
          <p:cNvPicPr preferRelativeResize="0"/>
          <p:nvPr/>
        </p:nvPicPr>
        <p:blipFill rotWithShape="1">
          <a:blip r:embed="rId7">
            <a:alphaModFix/>
          </a:blip>
          <a:srcRect b="-598" l="0" r="0" t="-598"/>
          <a:stretch/>
        </p:blipFill>
        <p:spPr>
          <a:xfrm>
            <a:off x="12172950" y="2490012"/>
            <a:ext cx="2857500" cy="6257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6" name="Google Shape;266;p9"/>
          <p:cNvPicPr preferRelativeResize="0"/>
          <p:nvPr/>
        </p:nvPicPr>
        <p:blipFill rotWithShape="1">
          <a:blip r:embed="rId8">
            <a:alphaModFix/>
          </a:blip>
          <a:srcRect b="-598" l="0" r="0" t="-598"/>
          <a:stretch/>
        </p:blipFill>
        <p:spPr>
          <a:xfrm>
            <a:off x="15144750" y="2490012"/>
            <a:ext cx="2857500" cy="625792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9"/>
          <p:cNvSpPr/>
          <p:nvPr/>
        </p:nvSpPr>
        <p:spPr>
          <a:xfrm>
            <a:off x="91440" y="8977554"/>
            <a:ext cx="1810512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20690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Work Sans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Sin crear cuenta. El nombre es opcional y se pregunta al final. El total se verifica contra la carta del local.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9" name="Google Shape;269;p9"/>
          <p:cNvPicPr preferRelativeResize="0"/>
          <p:nvPr/>
        </p:nvPicPr>
        <p:blipFill rotWithShape="1">
          <a:blip r:embed="rId9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0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0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0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La pantalla de cocina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914400" y="2490013"/>
            <a:ext cx="10420350" cy="6600824"/>
          </a:xfrm>
          <a:prstGeom prst="roundRect">
            <a:avLst>
              <a:gd fmla="val 2886" name="adj"/>
            </a:avLst>
          </a:prstGeom>
          <a:solidFill>
            <a:srgbClr val="17140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1" name="Google Shape;281;p10"/>
          <p:cNvPicPr preferRelativeResize="0"/>
          <p:nvPr/>
        </p:nvPicPr>
        <p:blipFill rotWithShape="1">
          <a:blip r:embed="rId3">
            <a:alphaModFix/>
          </a:blip>
          <a:srcRect b="0" l="19" r="19" t="0"/>
          <a:stretch/>
        </p:blipFill>
        <p:spPr>
          <a:xfrm>
            <a:off x="971550" y="2568588"/>
            <a:ext cx="10306050" cy="6443663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0"/>
          <p:cNvSpPr/>
          <p:nvPr/>
        </p:nvSpPr>
        <p:spPr>
          <a:xfrm>
            <a:off x="11906250" y="2567232"/>
            <a:ext cx="6014085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REGLAS DE DISEÑO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11906250" y="3104442"/>
            <a:ext cx="9525" cy="346710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0"/>
          <p:cNvSpPr/>
          <p:nvPr/>
        </p:nvSpPr>
        <p:spPr>
          <a:xfrm>
            <a:off x="12142470" y="3104442"/>
            <a:ext cx="5777865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Color por tiempo de espera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11906250" y="3736902"/>
            <a:ext cx="9525" cy="346710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0"/>
          <p:cNvSpPr/>
          <p:nvPr/>
        </p:nvSpPr>
        <p:spPr>
          <a:xfrm>
            <a:off x="12142470" y="3736902"/>
            <a:ext cx="5777865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Orden por antigüedad, siempre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11906250" y="4369362"/>
            <a:ext cx="22860" cy="35433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"/>
          <p:cNvSpPr/>
          <p:nvPr/>
        </p:nvSpPr>
        <p:spPr>
          <a:xfrm>
            <a:off x="12157710" y="4369362"/>
            <a:ext cx="5762625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Marca </a:t>
            </a: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+18 </a:t>
            </a:r>
            <a:r>
              <a:rPr b="0" i="0" lang="en-US" sz="19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en las comandas con alcohol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11906250" y="5009442"/>
            <a:ext cx="9525" cy="693420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12142470" y="5009442"/>
            <a:ext cx="5395151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Deshacer de veinte segundos en vez de diálogo de confirmación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2" name="Google Shape;292;p10"/>
          <p:cNvPicPr preferRelativeResize="0"/>
          <p:nvPr/>
        </p:nvPicPr>
        <p:blipFill rotWithShape="1">
          <a:blip r:embed="rId4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med">
        <p14:flip dir="l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1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Modelo de Negocio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1"/>
          <p:cNvSpPr/>
          <p:nvPr/>
        </p:nvSpPr>
        <p:spPr>
          <a:xfrm>
            <a:off x="914400" y="2508960"/>
            <a:ext cx="5334000" cy="1999297"/>
          </a:xfrm>
          <a:prstGeom prst="rect">
            <a:avLst/>
          </a:prstGeom>
          <a:solidFill>
            <a:srgbClr val="F3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914400" y="2508960"/>
            <a:ext cx="5334000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1200150" y="2779470"/>
            <a:ext cx="523875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QUIÉN PAGA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1200150" y="3183330"/>
            <a:ext cx="4905375" cy="111537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cliente de Kippu es el restaurante. </a:t>
            </a:r>
            <a:r>
              <a:rPr b="0" i="0" lang="en-US" sz="195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El comensal no paga nada: ni recargo, ni suscripción, ni comisión.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914400" y="4756682"/>
            <a:ext cx="53340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914400" y="4992902"/>
            <a:ext cx="5867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923"/>
              </a:lnSpc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6600"/>
              <a:buFont typeface="IBM Plex Mono"/>
              <a:buNone/>
            </a:pPr>
            <a:r>
              <a:rPr b="0" i="0" lang="en-US" sz="66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$29.990</a:t>
            </a:r>
            <a:endParaRPr b="0" i="0" sz="6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914400" y="5926352"/>
            <a:ext cx="5867400" cy="3124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por local, al mes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/>
          <p:nvPr/>
        </p:nvSpPr>
        <p:spPr>
          <a:xfrm>
            <a:off x="914400" y="6372122"/>
            <a:ext cx="5494020" cy="12268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842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lang="en-US" sz="195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Tramo único · Sin comisión por venta · Puesta en marcha incluida </a:t>
            </a: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: carga de la carta y generación de los códigos QR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914400" y="7770392"/>
            <a:ext cx="549402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9310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Work Sans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La propina no es ingreso de Kippu: va íntegra al local, en un campo separado del total.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6781800" y="2511723"/>
            <a:ext cx="1165098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POR QUÉ ESE PRECIO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6781800" y="3749973"/>
            <a:ext cx="3070027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6781800" y="2896533"/>
            <a:ext cx="3070027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1"/>
          <p:cNvSpPr/>
          <p:nvPr/>
        </p:nvSpPr>
        <p:spPr>
          <a:xfrm>
            <a:off x="6934200" y="3018453"/>
            <a:ext cx="2857327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SimpleQR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9851827" y="3749973"/>
            <a:ext cx="4605099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9851827" y="2896533"/>
            <a:ext cx="4605099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1"/>
          <p:cNvSpPr/>
          <p:nvPr/>
        </p:nvSpPr>
        <p:spPr>
          <a:xfrm>
            <a:off x="10004227" y="3018453"/>
            <a:ext cx="4438452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Ver la carta y pedir por WhatsApp. No procesa pagos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1"/>
          <p:cNvSpPr/>
          <p:nvPr/>
        </p:nvSpPr>
        <p:spPr>
          <a:xfrm>
            <a:off x="14456926" y="3749973"/>
            <a:ext cx="2916674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14456926" y="2896533"/>
            <a:ext cx="2916674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1"/>
          <p:cNvSpPr/>
          <p:nvPr/>
        </p:nvSpPr>
        <p:spPr>
          <a:xfrm>
            <a:off x="14609326" y="3018453"/>
            <a:ext cx="2699374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$0 – $14.990 / mes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6781800" y="3757593"/>
            <a:ext cx="3070027" cy="60198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6781800" y="4336713"/>
            <a:ext cx="3070027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6781800" y="3757593"/>
            <a:ext cx="3070027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6934200" y="3894753"/>
            <a:ext cx="285732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Fraunces"/>
              <a:buNone/>
            </a:pPr>
            <a:r>
              <a:rPr b="1" i="0" lang="en-US" sz="2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Kippu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9851827" y="3757593"/>
            <a:ext cx="4605099" cy="60198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9851827" y="4336713"/>
            <a:ext cx="4605099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9851827" y="3757593"/>
            <a:ext cx="4605099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10004227" y="3894753"/>
            <a:ext cx="44384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Ver, pedir y pagar desde el teléfono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14456926" y="3757593"/>
            <a:ext cx="2916674" cy="60198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14456926" y="4336713"/>
            <a:ext cx="2916674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14456926" y="3757593"/>
            <a:ext cx="2916674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14609326" y="3894753"/>
            <a:ext cx="26993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$29.990 / mes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6781800" y="5205393"/>
            <a:ext cx="3070027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6934200" y="4473873"/>
            <a:ext cx="2857327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Toteat (plan básico)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9851827" y="5205393"/>
            <a:ext cx="4605099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10004227" y="4473873"/>
            <a:ext cx="4438452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714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800"/>
              <a:buFont typeface="Work Sans"/>
              <a:buNone/>
            </a:pPr>
            <a:r>
              <a:rPr b="0" i="0" lang="en-US" sz="180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Todo lo anterior dentro de un POS completo, con boleta electrónica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14456926" y="5205393"/>
            <a:ext cx="2916674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1"/>
          <p:cNvSpPr/>
          <p:nvPr/>
        </p:nvSpPr>
        <p:spPr>
          <a:xfrm>
            <a:off x="14609326" y="4473873"/>
            <a:ext cx="2699374" cy="6553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3125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$39.900 / mes + 0,7% de la venta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6781800" y="5327313"/>
            <a:ext cx="10909554" cy="9982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Work Sans"/>
              <a:buNone/>
            </a:pPr>
            <a:r>
              <a:rPr lang="en-US" sz="180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Por debajo</a:t>
            </a:r>
            <a:r>
              <a:rPr b="0" i="0" lang="en-US" sz="18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 del plan básico de la alternativa más cercana, y sin comisión sobre la venta. Con el ticket promedio del local, la mensualidad equivale a la venta de una mesa de dos personas. Basta con que el sistema libere una rotación adicional al mes para que se pague solo.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/>
          <p:nvPr/>
        </p:nvSpPr>
        <p:spPr>
          <a:xfrm>
            <a:off x="6781800" y="6539051"/>
            <a:ext cx="10591800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"/>
          <p:cNvSpPr/>
          <p:nvPr/>
        </p:nvSpPr>
        <p:spPr>
          <a:xfrm>
            <a:off x="6781800" y="6680022"/>
            <a:ext cx="1165098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QUÉ CUESTA OPERARLO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6781800" y="7026732"/>
            <a:ext cx="3427140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La infraestructura es del orden de </a:t>
            </a:r>
            <a:r>
              <a:rPr b="0" i="0" lang="en-US" sz="165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US$5 </a:t>
            </a: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mensuales para toda la plataforma, y el costo marginal de un local adicional es casi cero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10413921" y="7026732"/>
            <a:ext cx="3427263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costo real del servicio es el soporte y el mantenimiento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14046160" y="7026732"/>
            <a:ext cx="3427140" cy="1400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La comisión de la pasarela la paga el restaurante, porque el contrato con Transbank es suyo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7" name="Google Shape;347;p11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2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2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2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2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2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Mapa Tecnológico y Arquitectura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2"/>
          <p:cNvSpPr/>
          <p:nvPr/>
        </p:nvSpPr>
        <p:spPr>
          <a:xfrm>
            <a:off x="914400" y="2566358"/>
            <a:ext cx="8581073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EL STACK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2"/>
          <p:cNvSpPr/>
          <p:nvPr/>
        </p:nvSpPr>
        <p:spPr>
          <a:xfrm>
            <a:off x="914400" y="2989268"/>
            <a:ext cx="7800975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2"/>
          <p:cNvSpPr/>
          <p:nvPr/>
        </p:nvSpPr>
        <p:spPr>
          <a:xfrm>
            <a:off x="914400" y="3469327"/>
            <a:ext cx="2095500" cy="3124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LENGUAJES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1" name="Google Shape;36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67050" y="3206438"/>
            <a:ext cx="800100" cy="800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62" name="Google Shape;36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76700" y="3206438"/>
            <a:ext cx="128016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2"/>
          <p:cNvSpPr/>
          <p:nvPr/>
        </p:nvSpPr>
        <p:spPr>
          <a:xfrm>
            <a:off x="914400" y="4217369"/>
            <a:ext cx="7800975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2"/>
          <p:cNvSpPr/>
          <p:nvPr/>
        </p:nvSpPr>
        <p:spPr>
          <a:xfrm>
            <a:off x="914400" y="4579319"/>
            <a:ext cx="1981200" cy="5867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FRAMEWORK Y DATOS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5" name="Google Shape;365;p12"/>
          <p:cNvPicPr preferRelativeResize="0"/>
          <p:nvPr/>
        </p:nvPicPr>
        <p:blipFill rotWithShape="1">
          <a:blip r:embed="rId5">
            <a:alphaModFix amt="99000"/>
          </a:blip>
          <a:srcRect b="0" l="0" r="0" t="0"/>
          <a:stretch/>
        </p:blipFill>
        <p:spPr>
          <a:xfrm>
            <a:off x="3067050" y="4434539"/>
            <a:ext cx="8382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66" name="Google Shape;366;p12"/>
          <p:cNvPicPr preferRelativeResize="0"/>
          <p:nvPr/>
        </p:nvPicPr>
        <p:blipFill rotWithShape="1">
          <a:blip r:embed="rId6">
            <a:alphaModFix amt="99000"/>
          </a:blip>
          <a:srcRect b="0" l="0" r="0" t="0"/>
          <a:stretch/>
        </p:blipFill>
        <p:spPr>
          <a:xfrm>
            <a:off x="4152900" y="4453589"/>
            <a:ext cx="80010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2"/>
          <p:cNvSpPr/>
          <p:nvPr/>
        </p:nvSpPr>
        <p:spPr>
          <a:xfrm>
            <a:off x="914400" y="5485088"/>
            <a:ext cx="7800975" cy="9525"/>
          </a:xfrm>
          <a:prstGeom prst="rect">
            <a:avLst/>
          </a:prstGeom>
          <a:solidFill>
            <a:srgbClr val="D8D0C3">
              <a:alpha val="98039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"/>
          <p:cNvSpPr/>
          <p:nvPr/>
        </p:nvSpPr>
        <p:spPr>
          <a:xfrm>
            <a:off x="914400" y="5972769"/>
            <a:ext cx="2095500" cy="3124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INTERACTIVIDAD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2"/>
          <p:cNvSpPr/>
          <p:nvPr/>
        </p:nvSpPr>
        <p:spPr>
          <a:xfrm>
            <a:off x="3067050" y="5702258"/>
            <a:ext cx="1443990" cy="815340"/>
          </a:xfrm>
          <a:prstGeom prst="rect">
            <a:avLst/>
          </a:prstGeom>
          <a:noFill/>
          <a:ln cap="flat" cmpd="sng" w="9525">
            <a:solidFill>
              <a:srgbClr val="A89A86">
                <a:alpha val="98039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2"/>
          <p:cNvSpPr/>
          <p:nvPr/>
        </p:nvSpPr>
        <p:spPr>
          <a:xfrm>
            <a:off x="3036570" y="5709878"/>
            <a:ext cx="15049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Alpine.js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4682490" y="5702258"/>
            <a:ext cx="1215390" cy="815340"/>
          </a:xfrm>
          <a:prstGeom prst="rect">
            <a:avLst/>
          </a:prstGeom>
          <a:noFill/>
          <a:ln cap="flat" cmpd="sng" w="9525">
            <a:solidFill>
              <a:srgbClr val="A89A86">
                <a:alpha val="98039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2"/>
          <p:cNvSpPr/>
          <p:nvPr/>
        </p:nvSpPr>
        <p:spPr>
          <a:xfrm>
            <a:off x="4652010" y="5709878"/>
            <a:ext cx="12763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HTMX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2"/>
          <p:cNvSpPr/>
          <p:nvPr/>
        </p:nvSpPr>
        <p:spPr>
          <a:xfrm>
            <a:off x="914400" y="7974566"/>
            <a:ext cx="7800975" cy="9525"/>
          </a:xfrm>
          <a:prstGeom prst="rect">
            <a:avLst/>
          </a:prstGeom>
          <a:solidFill>
            <a:srgbClr val="D8D0C3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2"/>
          <p:cNvSpPr/>
          <p:nvPr/>
        </p:nvSpPr>
        <p:spPr>
          <a:xfrm>
            <a:off x="914400" y="6732506"/>
            <a:ext cx="7800975" cy="9525"/>
          </a:xfrm>
          <a:prstGeom prst="rect">
            <a:avLst/>
          </a:prstGeom>
          <a:solidFill>
            <a:srgbClr val="D8D0C3">
              <a:alpha val="9490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2"/>
          <p:cNvSpPr/>
          <p:nvPr/>
        </p:nvSpPr>
        <p:spPr>
          <a:xfrm>
            <a:off x="914400" y="7220187"/>
            <a:ext cx="2095500" cy="3124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650"/>
              <a:buFont typeface="IBM Plex Mono"/>
              <a:buNone/>
            </a:pPr>
            <a:r>
              <a:rPr b="0" i="0" lang="en-US" sz="16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SERVICIOS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2"/>
          <p:cNvSpPr/>
          <p:nvPr/>
        </p:nvSpPr>
        <p:spPr>
          <a:xfrm>
            <a:off x="3067050" y="6949676"/>
            <a:ext cx="2205990" cy="815340"/>
          </a:xfrm>
          <a:prstGeom prst="rect">
            <a:avLst/>
          </a:prstGeom>
          <a:noFill/>
          <a:ln cap="flat" cmpd="sng" w="9525">
            <a:solidFill>
              <a:srgbClr val="A89A86">
                <a:alpha val="94902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2"/>
          <p:cNvSpPr/>
          <p:nvPr/>
        </p:nvSpPr>
        <p:spPr>
          <a:xfrm>
            <a:off x="3036570" y="6957296"/>
            <a:ext cx="22669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Transbank Webpay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5444490" y="6949676"/>
            <a:ext cx="1348740" cy="815340"/>
          </a:xfrm>
          <a:prstGeom prst="rect">
            <a:avLst/>
          </a:prstGeom>
          <a:noFill/>
          <a:ln cap="flat" cmpd="sng" w="9525">
            <a:solidFill>
              <a:srgbClr val="A89A86">
                <a:alpha val="94902"/>
              </a:srgbClr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2"/>
          <p:cNvSpPr/>
          <p:nvPr/>
        </p:nvSpPr>
        <p:spPr>
          <a:xfrm>
            <a:off x="5414010" y="6957296"/>
            <a:ext cx="14097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Railway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0" name="Google Shape;380;p12"/>
          <p:cNvPicPr preferRelativeResize="0"/>
          <p:nvPr/>
        </p:nvPicPr>
        <p:blipFill rotWithShape="1">
          <a:blip r:embed="rId7">
            <a:alphaModFix amt="95000"/>
          </a:blip>
          <a:srcRect b="0" l="0" r="0" t="0"/>
          <a:stretch/>
        </p:blipFill>
        <p:spPr>
          <a:xfrm>
            <a:off x="6964680" y="6957296"/>
            <a:ext cx="80010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2"/>
          <p:cNvSpPr/>
          <p:nvPr/>
        </p:nvSpPr>
        <p:spPr>
          <a:xfrm>
            <a:off x="914400" y="8239924"/>
            <a:ext cx="8035004" cy="11982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Monolito modular en Django. Sin framework de frontend separado ni API REST propia: </a:t>
            </a:r>
            <a:r>
              <a:rPr b="0" i="0" lang="en-US" sz="210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cada ausencia es una decisión registrada</a:t>
            </a: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9324975" y="2567638"/>
            <a:ext cx="8853488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EL MODELO DE DATOS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3" name="Google Shape;383;p12"/>
          <p:cNvPicPr preferRelativeResize="0"/>
          <p:nvPr/>
        </p:nvPicPr>
        <p:blipFill rotWithShape="1">
          <a:blip r:embed="rId8">
            <a:alphaModFix amt="98000"/>
          </a:blip>
          <a:srcRect b="0" l="-19386" r="-19386" t="0"/>
          <a:stretch/>
        </p:blipFill>
        <p:spPr>
          <a:xfrm>
            <a:off x="9324975" y="2993348"/>
            <a:ext cx="8048625" cy="4524375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12"/>
          <p:cNvSpPr/>
          <p:nvPr/>
        </p:nvSpPr>
        <p:spPr>
          <a:xfrm>
            <a:off x="9324975" y="7743822"/>
            <a:ext cx="8048625" cy="9525"/>
          </a:xfrm>
          <a:prstGeom prst="rect">
            <a:avLst/>
          </a:prstGeom>
          <a:solidFill>
            <a:srgbClr val="D8D0C3">
              <a:alpha val="8117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2"/>
          <p:cNvSpPr/>
          <p:nvPr/>
        </p:nvSpPr>
        <p:spPr>
          <a:xfrm>
            <a:off x="9324975" y="7922891"/>
            <a:ext cx="8853488" cy="39719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precio se congela en la línea del pedido.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/>
          <p:nvPr/>
        </p:nvSpPr>
        <p:spPr>
          <a:xfrm>
            <a:off x="9324975" y="8396284"/>
            <a:ext cx="8290084" cy="7562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Un comensal por dispositivo hace que la cuenta dividida no haya que programarla.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2"/>
          <p:cNvSpPr/>
          <p:nvPr/>
        </p:nvSpPr>
        <p:spPr>
          <a:xfrm>
            <a:off x="9324975" y="9228769"/>
            <a:ext cx="8290084" cy="7562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Cada cambio de estado queda registrado, y de ahí sale el tiempo real de preparación.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9" name="Google Shape;389;p12"/>
          <p:cNvPicPr preferRelativeResize="0"/>
          <p:nvPr/>
        </p:nvPicPr>
        <p:blipFill rotWithShape="1">
          <a:blip r:embed="rId9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med">
        <p14:flip dir="l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3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914400" y="1752600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SEGURIDAD Y DATOS PERSONALES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914400" y="2213628"/>
            <a:ext cx="181051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Cuatro decisiones no negociables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914400" y="3351469"/>
            <a:ext cx="7848600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3"/>
          <p:cNvSpPr/>
          <p:nvPr/>
        </p:nvSpPr>
        <p:spPr>
          <a:xfrm>
            <a:off x="914400" y="3606739"/>
            <a:ext cx="863346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TOTAL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/>
          <p:nvPr/>
        </p:nvSpPr>
        <p:spPr>
          <a:xfrm>
            <a:off x="914400" y="4010599"/>
            <a:ext cx="8084058" cy="8115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total siempre se calcula en el servidor, ignorando lo que envíe el teléfono.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3"/>
          <p:cNvSpPr/>
          <p:nvPr/>
        </p:nvSpPr>
        <p:spPr>
          <a:xfrm>
            <a:off x="9525000" y="3353115"/>
            <a:ext cx="7848600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9525000" y="3608385"/>
            <a:ext cx="863346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TARJETA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9525000" y="4012246"/>
            <a:ext cx="8084058" cy="8115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Ningún dato de tarjeta toca el sistema, los ingresa el cliente en el sitio de Transbank.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/>
          <p:nvPr/>
        </p:nvSpPr>
        <p:spPr>
          <a:xfrm>
            <a:off x="914400" y="5208173"/>
            <a:ext cx="7848600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914400" y="5463443"/>
            <a:ext cx="863346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CONFIRMACIÓN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/>
          <p:nvPr/>
        </p:nvSpPr>
        <p:spPr>
          <a:xfrm>
            <a:off x="914400" y="5867303"/>
            <a:ext cx="8084058" cy="8115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pago se confirma contra Transbank, no contra lo que diga el navegador.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3"/>
          <p:cNvSpPr/>
          <p:nvPr/>
        </p:nvSpPr>
        <p:spPr>
          <a:xfrm>
            <a:off x="9525000" y="5214590"/>
            <a:ext cx="7848600" cy="1676400"/>
          </a:xfrm>
          <a:prstGeom prst="rect">
            <a:avLst/>
          </a:prstGeom>
          <a:solidFill>
            <a:srgbClr val="F3EADC">
              <a:alpha val="9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9525000" y="5214590"/>
            <a:ext cx="7848600" cy="22860"/>
          </a:xfrm>
          <a:prstGeom prst="rect">
            <a:avLst/>
          </a:prstGeom>
          <a:solidFill>
            <a:srgbClr val="A83A22">
              <a:alpha val="9411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9810750" y="5466051"/>
            <a:ext cx="800481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LEY 21.719 · 01·12·2026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3"/>
          <p:cNvSpPr/>
          <p:nvPr/>
        </p:nvSpPr>
        <p:spPr>
          <a:xfrm>
            <a:off x="9810750" y="5869911"/>
            <a:ext cx="7495413" cy="8115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Diseñado con minimización de datos, por la Ley 21.719, que entra en vigencia el 1 de diciembre de 2026.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5" name="Google Shape;415;p13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4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4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4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4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Metodología y Roles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914400" y="2470860"/>
            <a:ext cx="14716125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Metodología híbrida: decisiones y documentación por fases, desarrollo por sprints de dos semanas.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914400" y="3652735"/>
            <a:ext cx="7943850" cy="1939290"/>
          </a:xfrm>
          <a:prstGeom prst="rect">
            <a:avLst/>
          </a:prstGeom>
          <a:solidFill>
            <a:srgbClr val="F3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4"/>
          <p:cNvSpPr/>
          <p:nvPr/>
        </p:nvSpPr>
        <p:spPr>
          <a:xfrm>
            <a:off x="914400" y="3652735"/>
            <a:ext cx="7943850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4"/>
          <p:cNvSpPr/>
          <p:nvPr/>
        </p:nvSpPr>
        <p:spPr>
          <a:xfrm>
            <a:off x="1219200" y="3923245"/>
            <a:ext cx="8067675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EJE 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/>
          <p:nvPr/>
        </p:nvSpPr>
        <p:spPr>
          <a:xfrm>
            <a:off x="1219200" y="4308055"/>
            <a:ext cx="8067675" cy="5562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3300"/>
              <a:buFont typeface="Fraunces"/>
              <a:buNone/>
            </a:pPr>
            <a:r>
              <a:rPr b="1" i="0" lang="en-US" sz="33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Sebastián Delgado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1219200" y="4978615"/>
            <a:ext cx="7554278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07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IBM Plex Mono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Carta · Mesas · Pedidos · Administración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9429750" y="3654724"/>
            <a:ext cx="7943850" cy="1939290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4"/>
          <p:cNvSpPr/>
          <p:nvPr/>
        </p:nvSpPr>
        <p:spPr>
          <a:xfrm>
            <a:off x="9429750" y="3654724"/>
            <a:ext cx="7943850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4"/>
          <p:cNvSpPr/>
          <p:nvPr/>
        </p:nvSpPr>
        <p:spPr>
          <a:xfrm>
            <a:off x="9734550" y="3925235"/>
            <a:ext cx="8067675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EJE 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/>
          <p:nvPr/>
        </p:nvSpPr>
        <p:spPr>
          <a:xfrm>
            <a:off x="9734550" y="4310044"/>
            <a:ext cx="8067675" cy="5562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3300"/>
              <a:buFont typeface="Fraunces"/>
              <a:buNone/>
            </a:pPr>
            <a:r>
              <a:rPr b="1" i="0" lang="en-US" sz="33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Gian Cabana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9734550" y="4980605"/>
            <a:ext cx="7554278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07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800"/>
              <a:buFont typeface="IBM Plex Mono"/>
              <a:buNone/>
            </a:pPr>
            <a:r>
              <a:rPr b="0" i="0" lang="en-US" sz="1800" u="none" cap="none" strike="noStrike">
                <a:solidFill>
                  <a:srgbClr val="3B342B"/>
                </a:solidFill>
                <a:latin typeface="IBM Plex Mono"/>
                <a:ea typeface="IBM Plex Mono"/>
                <a:cs typeface="IBM Plex Mono"/>
                <a:sym typeface="IBM Plex Mono"/>
              </a:rPr>
              <a:t>Pagos · Cocina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/>
          <p:nvPr/>
        </p:nvSpPr>
        <p:spPr>
          <a:xfrm>
            <a:off x="914400" y="5864685"/>
            <a:ext cx="157162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8289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La regla del total calculado en el servidor cruza ambos ejes, así que cada uno revisa el código del otro en ese punto.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914400" y="6586516"/>
            <a:ext cx="16459200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4"/>
          <p:cNvSpPr/>
          <p:nvPr/>
        </p:nvSpPr>
        <p:spPr>
          <a:xfrm>
            <a:off x="914400" y="6841786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OBJETIVOS ESPECÍFICOS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4"/>
          <p:cNvSpPr/>
          <p:nvPr/>
        </p:nvSpPr>
        <p:spPr>
          <a:xfrm>
            <a:off x="914400" y="7302796"/>
            <a:ext cx="3369564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4"/>
          <p:cNvSpPr/>
          <p:nvPr/>
        </p:nvSpPr>
        <p:spPr>
          <a:xfrm>
            <a:off x="914400" y="7668556"/>
            <a:ext cx="3155137" cy="88677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Modelar y construir la base de datos de carta, mesas y pedidos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4"/>
          <p:cNvSpPr/>
          <p:nvPr/>
        </p:nvSpPr>
        <p:spPr>
          <a:xfrm>
            <a:off x="4263390" y="7302796"/>
            <a:ext cx="3369564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/>
          <p:nvPr/>
        </p:nvSpPr>
        <p:spPr>
          <a:xfrm>
            <a:off x="4263390" y="7668556"/>
            <a:ext cx="3155137" cy="88677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Implementar el flujo de pedido con cálculo de totales en el servidor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4"/>
          <p:cNvSpPr/>
          <p:nvPr/>
        </p:nvSpPr>
        <p:spPr>
          <a:xfrm>
            <a:off x="7612380" y="7302796"/>
            <a:ext cx="3369564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4"/>
          <p:cNvSpPr/>
          <p:nvPr/>
        </p:nvSpPr>
        <p:spPr>
          <a:xfrm>
            <a:off x="7612380" y="7668556"/>
            <a:ext cx="3155137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Integrar la pasarela de pago en ambiente de integración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10961370" y="7302796"/>
            <a:ext cx="3369564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4"/>
          <p:cNvSpPr/>
          <p:nvPr/>
        </p:nvSpPr>
        <p:spPr>
          <a:xfrm>
            <a:off x="10961370" y="7668556"/>
            <a:ext cx="3369564" cy="32099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Construir la vista de cocina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4"/>
          <p:cNvSpPr/>
          <p:nvPr/>
        </p:nvSpPr>
        <p:spPr>
          <a:xfrm>
            <a:off x="14310360" y="7302796"/>
            <a:ext cx="3369564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4"/>
          <p:cNvSpPr/>
          <p:nvPr/>
        </p:nvSpPr>
        <p:spPr>
          <a:xfrm>
            <a:off x="14310360" y="7668556"/>
            <a:ext cx="3155137" cy="1169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650"/>
              <a:buFont typeface="Work Sans"/>
              <a:buNone/>
            </a:pPr>
            <a:r>
              <a:rPr b="0" i="0" lang="en-US" sz="16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Validar con pruebas unitarias, de integración y de usabilidad con usuarios reales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4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1" name="Google Shape;451;p14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5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5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5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5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Plan de trabajo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5"/>
          <p:cNvSpPr/>
          <p:nvPr/>
        </p:nvSpPr>
        <p:spPr>
          <a:xfrm>
            <a:off x="914400" y="2661359"/>
            <a:ext cx="2217777" cy="22860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5"/>
          <p:cNvSpPr/>
          <p:nvPr/>
        </p:nvSpPr>
        <p:spPr>
          <a:xfrm>
            <a:off x="1123950" y="2922344"/>
            <a:ext cx="197854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/>
          <p:nvPr/>
        </p:nvSpPr>
        <p:spPr>
          <a:xfrm>
            <a:off x="1123950" y="3375734"/>
            <a:ext cx="1874877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Inicio del desarrollo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5"/>
          <p:cNvSpPr/>
          <p:nvPr/>
        </p:nvSpPr>
        <p:spPr>
          <a:xfrm>
            <a:off x="1123950" y="5528383"/>
            <a:ext cx="1874877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Ambos ejes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/>
          <p:nvPr/>
        </p:nvSpPr>
        <p:spPr>
          <a:xfrm>
            <a:off x="3265527" y="2662131"/>
            <a:ext cx="2217896" cy="22860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5"/>
          <p:cNvSpPr/>
          <p:nvPr/>
        </p:nvSpPr>
        <p:spPr>
          <a:xfrm>
            <a:off x="3475077" y="2923116"/>
            <a:ext cx="1978676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6–7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5"/>
          <p:cNvSpPr/>
          <p:nvPr/>
        </p:nvSpPr>
        <p:spPr>
          <a:xfrm>
            <a:off x="3475077" y="3376506"/>
            <a:ext cx="187499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Carta y Mesas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/>
          <p:nvPr/>
        </p:nvSpPr>
        <p:spPr>
          <a:xfrm>
            <a:off x="3475077" y="5277696"/>
            <a:ext cx="1874996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Eje A · Sebastián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5"/>
          <p:cNvSpPr/>
          <p:nvPr/>
        </p:nvSpPr>
        <p:spPr>
          <a:xfrm>
            <a:off x="5616773" y="2664116"/>
            <a:ext cx="2217777" cy="22860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5"/>
          <p:cNvSpPr/>
          <p:nvPr/>
        </p:nvSpPr>
        <p:spPr>
          <a:xfrm>
            <a:off x="5826323" y="2925101"/>
            <a:ext cx="197854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8–9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5"/>
          <p:cNvSpPr/>
          <p:nvPr/>
        </p:nvSpPr>
        <p:spPr>
          <a:xfrm>
            <a:off x="5826323" y="3378491"/>
            <a:ext cx="1874877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Pedidos y carrito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5"/>
          <p:cNvSpPr/>
          <p:nvPr/>
        </p:nvSpPr>
        <p:spPr>
          <a:xfrm>
            <a:off x="5826323" y="5279681"/>
            <a:ext cx="1874877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Eje A · Sebastián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5"/>
          <p:cNvSpPr/>
          <p:nvPr/>
        </p:nvSpPr>
        <p:spPr>
          <a:xfrm>
            <a:off x="7967901" y="2668078"/>
            <a:ext cx="2217896" cy="3482340"/>
          </a:xfrm>
          <a:prstGeom prst="rect">
            <a:avLst/>
          </a:prstGeom>
          <a:solidFill>
            <a:srgbClr val="F3EADC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7967901" y="2668078"/>
            <a:ext cx="2217896" cy="53340"/>
          </a:xfrm>
          <a:prstGeom prst="rect">
            <a:avLst/>
          </a:prstGeom>
          <a:solidFill>
            <a:srgbClr val="A83A22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5"/>
          <p:cNvSpPr/>
          <p:nvPr/>
        </p:nvSpPr>
        <p:spPr>
          <a:xfrm>
            <a:off x="8177451" y="2969068"/>
            <a:ext cx="1978676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10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5"/>
          <p:cNvSpPr/>
          <p:nvPr/>
        </p:nvSpPr>
        <p:spPr>
          <a:xfrm>
            <a:off x="8177451" y="3422458"/>
            <a:ext cx="187499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250"/>
              <a:buFont typeface="Work Sans"/>
              <a:buNone/>
            </a:pPr>
            <a:r>
              <a:rPr b="0" i="0" lang="en-US" sz="225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Evaluación de avance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5"/>
          <p:cNvSpPr/>
          <p:nvPr/>
        </p:nvSpPr>
        <p:spPr>
          <a:xfrm>
            <a:off x="8177451" y="5072187"/>
            <a:ext cx="1874996" cy="792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Flujo completo hasta antes de pagar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5"/>
          <p:cNvSpPr/>
          <p:nvPr/>
        </p:nvSpPr>
        <p:spPr>
          <a:xfrm>
            <a:off x="10319147" y="2675519"/>
            <a:ext cx="2217777" cy="22860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5"/>
          <p:cNvSpPr/>
          <p:nvPr/>
        </p:nvSpPr>
        <p:spPr>
          <a:xfrm>
            <a:off x="10528697" y="2936504"/>
            <a:ext cx="197854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11–12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5"/>
          <p:cNvSpPr/>
          <p:nvPr/>
        </p:nvSpPr>
        <p:spPr>
          <a:xfrm>
            <a:off x="10528697" y="3389894"/>
            <a:ext cx="1874877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Pagos y Transbank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5"/>
          <p:cNvSpPr/>
          <p:nvPr/>
        </p:nvSpPr>
        <p:spPr>
          <a:xfrm>
            <a:off x="10528697" y="5542545"/>
            <a:ext cx="1874877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Eje B · Gian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5"/>
          <p:cNvSpPr/>
          <p:nvPr/>
        </p:nvSpPr>
        <p:spPr>
          <a:xfrm>
            <a:off x="12670274" y="2689840"/>
            <a:ext cx="2352199" cy="22860"/>
          </a:xfrm>
          <a:prstGeom prst="rect">
            <a:avLst/>
          </a:prstGeom>
          <a:solidFill>
            <a:srgbClr val="D8D0C3">
              <a:alpha val="85882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12879824" y="2950825"/>
            <a:ext cx="2126409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13–14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5"/>
          <p:cNvSpPr/>
          <p:nvPr/>
        </p:nvSpPr>
        <p:spPr>
          <a:xfrm>
            <a:off x="12879824" y="3404215"/>
            <a:ext cx="2009299" cy="1078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Cocina, administración y pruebas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5"/>
          <p:cNvSpPr/>
          <p:nvPr/>
        </p:nvSpPr>
        <p:spPr>
          <a:xfrm>
            <a:off x="12879824" y="5556865"/>
            <a:ext cx="2009299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Eje A y Eje 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5"/>
          <p:cNvSpPr/>
          <p:nvPr/>
        </p:nvSpPr>
        <p:spPr>
          <a:xfrm>
            <a:off x="15155823" y="2720183"/>
            <a:ext cx="2217777" cy="22860"/>
          </a:xfrm>
          <a:prstGeom prst="rect">
            <a:avLst/>
          </a:prstGeom>
          <a:solidFill>
            <a:srgbClr val="D8D0C3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15365373" y="2981168"/>
            <a:ext cx="197854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SEM 15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15365373" y="3434558"/>
            <a:ext cx="1978545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Entrega final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15365373" y="5587208"/>
            <a:ext cx="1874877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Ambos ejes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5"/>
          <p:cNvSpPr/>
          <p:nvPr/>
        </p:nvSpPr>
        <p:spPr>
          <a:xfrm>
            <a:off x="914400" y="7278848"/>
            <a:ext cx="1810512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EVIDENCIAS COMPROMETIDAS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5"/>
          <p:cNvSpPr/>
          <p:nvPr/>
        </p:nvSpPr>
        <p:spPr>
          <a:xfrm>
            <a:off x="914400" y="7720808"/>
            <a:ext cx="3943350" cy="1196340"/>
          </a:xfrm>
          <a:prstGeom prst="rect">
            <a:avLst/>
          </a:prstGeom>
          <a:solidFill>
            <a:srgbClr val="F3EADC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914400" y="7720808"/>
            <a:ext cx="22860" cy="1196340"/>
          </a:xfrm>
          <a:prstGeom prst="rect">
            <a:avLst/>
          </a:prstGeom>
          <a:solidFill>
            <a:srgbClr val="A83A22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1203960" y="7968458"/>
            <a:ext cx="3505391" cy="739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Modelo de datos y aplicación desplegada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5086350" y="7720808"/>
            <a:ext cx="3943350" cy="1196340"/>
          </a:xfrm>
          <a:prstGeom prst="rect">
            <a:avLst/>
          </a:prstGeom>
          <a:solidFill>
            <a:srgbClr val="F3EADC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15"/>
          <p:cNvSpPr/>
          <p:nvPr/>
        </p:nvSpPr>
        <p:spPr>
          <a:xfrm>
            <a:off x="5086350" y="7720808"/>
            <a:ext cx="22860" cy="1196340"/>
          </a:xfrm>
          <a:prstGeom prst="rect">
            <a:avLst/>
          </a:prstGeom>
          <a:solidFill>
            <a:srgbClr val="A83A22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5375910" y="7968458"/>
            <a:ext cx="3505391" cy="739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Pruebas unitarias y de integración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5"/>
          <p:cNvSpPr/>
          <p:nvPr/>
        </p:nvSpPr>
        <p:spPr>
          <a:xfrm>
            <a:off x="9258300" y="7720808"/>
            <a:ext cx="3943350" cy="1196340"/>
          </a:xfrm>
          <a:prstGeom prst="rect">
            <a:avLst/>
          </a:prstGeom>
          <a:solidFill>
            <a:srgbClr val="F3EADC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5"/>
          <p:cNvSpPr/>
          <p:nvPr/>
        </p:nvSpPr>
        <p:spPr>
          <a:xfrm>
            <a:off x="9258300" y="7720808"/>
            <a:ext cx="22860" cy="1196340"/>
          </a:xfrm>
          <a:prstGeom prst="rect">
            <a:avLst/>
          </a:prstGeom>
          <a:solidFill>
            <a:srgbClr val="A83A22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5"/>
          <p:cNvSpPr/>
          <p:nvPr/>
        </p:nvSpPr>
        <p:spPr>
          <a:xfrm>
            <a:off x="9547860" y="7968458"/>
            <a:ext cx="3505391" cy="739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highlight>
                  <a:srgbClr val="F5EEE2"/>
                </a:highlight>
                <a:latin typeface="Work Sans"/>
                <a:ea typeface="Work Sans"/>
                <a:cs typeface="Work Sans"/>
                <a:sym typeface="Work Sans"/>
              </a:rPr>
              <a:t>Pruebas de usabilidad con </a:t>
            </a: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5 a 8 </a:t>
            </a:r>
            <a:r>
              <a:rPr b="0" i="0" lang="en-US" sz="1950" u="none" cap="none" strike="noStrike">
                <a:solidFill>
                  <a:srgbClr val="3B342B"/>
                </a:solidFill>
                <a:highlight>
                  <a:srgbClr val="F5EEE2"/>
                </a:highlight>
                <a:latin typeface="Work Sans"/>
                <a:ea typeface="Work Sans"/>
                <a:cs typeface="Work Sans"/>
                <a:sym typeface="Work Sans"/>
              </a:rPr>
              <a:t>usuarios reales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5"/>
          <p:cNvSpPr/>
          <p:nvPr/>
        </p:nvSpPr>
        <p:spPr>
          <a:xfrm>
            <a:off x="13430250" y="7720808"/>
            <a:ext cx="3943350" cy="1196340"/>
          </a:xfrm>
          <a:prstGeom prst="rect">
            <a:avLst/>
          </a:prstGeom>
          <a:solidFill>
            <a:srgbClr val="F3EADC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13430250" y="7720808"/>
            <a:ext cx="22860" cy="1196340"/>
          </a:xfrm>
          <a:prstGeom prst="rect">
            <a:avLst/>
          </a:prstGeom>
          <a:solidFill>
            <a:srgbClr val="A83A22">
              <a:alpha val="7215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5"/>
          <p:cNvSpPr/>
          <p:nvPr/>
        </p:nvSpPr>
        <p:spPr>
          <a:xfrm>
            <a:off x="13719810" y="7968458"/>
            <a:ext cx="3505391" cy="739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Informe y presentación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05" name="Google Shape;505;p15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6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6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6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Competencias del perfil de egreso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6"/>
          <p:cNvSpPr/>
          <p:nvPr/>
        </p:nvSpPr>
        <p:spPr>
          <a:xfrm>
            <a:off x="914400" y="2699462"/>
            <a:ext cx="857250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914400" y="2950922"/>
            <a:ext cx="933450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C1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1771650" y="2699462"/>
            <a:ext cx="6639044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6"/>
          <p:cNvSpPr/>
          <p:nvPr/>
        </p:nvSpPr>
        <p:spPr>
          <a:xfrm>
            <a:off x="1771650" y="2950922"/>
            <a:ext cx="6552466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Pruebas de certificación de productos y procesos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6"/>
          <p:cNvSpPr/>
          <p:nvPr/>
        </p:nvSpPr>
        <p:spPr>
          <a:xfrm>
            <a:off x="8410694" y="2699462"/>
            <a:ext cx="8962906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6"/>
          <p:cNvSpPr/>
          <p:nvPr/>
        </p:nvSpPr>
        <p:spPr>
          <a:xfrm>
            <a:off x="8410694" y="2950922"/>
            <a:ext cx="9231793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4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Plan de pruebas en tres niveles: unitarias, de integración y de usabilidad con usuarios reales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6"/>
          <p:cNvSpPr/>
          <p:nvPr/>
        </p:nvSpPr>
        <p:spPr>
          <a:xfrm>
            <a:off x="914400" y="3900392"/>
            <a:ext cx="857250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16"/>
          <p:cNvSpPr/>
          <p:nvPr/>
        </p:nvSpPr>
        <p:spPr>
          <a:xfrm>
            <a:off x="914400" y="4151852"/>
            <a:ext cx="933450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C2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/>
          <p:nvPr/>
        </p:nvSpPr>
        <p:spPr>
          <a:xfrm>
            <a:off x="1771650" y="3900392"/>
            <a:ext cx="6639044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6"/>
          <p:cNvSpPr/>
          <p:nvPr/>
        </p:nvSpPr>
        <p:spPr>
          <a:xfrm>
            <a:off x="1771650" y="4151852"/>
            <a:ext cx="6552466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Gestión de proyectos informáticos con alternativas para decidir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6"/>
          <p:cNvSpPr/>
          <p:nvPr/>
        </p:nvSpPr>
        <p:spPr>
          <a:xfrm>
            <a:off x="8410694" y="3900392"/>
            <a:ext cx="8962906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16"/>
          <p:cNvSpPr/>
          <p:nvPr/>
        </p:nvSpPr>
        <p:spPr>
          <a:xfrm>
            <a:off x="8410694" y="4151852"/>
            <a:ext cx="9231793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4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Registro de decisiones: cada una con sus alternativas evaluadas y su motivo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914400" y="5102540"/>
            <a:ext cx="857250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6"/>
          <p:cNvSpPr/>
          <p:nvPr/>
        </p:nvSpPr>
        <p:spPr>
          <a:xfrm>
            <a:off x="914400" y="5354000"/>
            <a:ext cx="933450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C3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1771650" y="5102540"/>
            <a:ext cx="6639044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6"/>
          <p:cNvSpPr/>
          <p:nvPr/>
        </p:nvSpPr>
        <p:spPr>
          <a:xfrm>
            <a:off x="1771650" y="5354000"/>
            <a:ext cx="6552466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Construcción de modelos de datos escalables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8410694" y="5102540"/>
            <a:ext cx="8962906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6"/>
          <p:cNvSpPr/>
          <p:nvPr/>
        </p:nvSpPr>
        <p:spPr>
          <a:xfrm>
            <a:off x="8410694" y="5354000"/>
            <a:ext cx="9231793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4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Modelo de </a:t>
            </a:r>
            <a:r>
              <a:rPr lang="en-US" sz="195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14 </a:t>
            </a: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entidades, diseñado para crecer a varios locales sin rehacerse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914400" y="6255240"/>
            <a:ext cx="857250" cy="22860"/>
          </a:xfrm>
          <a:prstGeom prst="rect">
            <a:avLst/>
          </a:prstGeom>
          <a:solidFill>
            <a:srgbClr val="A83A22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6"/>
          <p:cNvSpPr/>
          <p:nvPr/>
        </p:nvSpPr>
        <p:spPr>
          <a:xfrm>
            <a:off x="914400" y="6506700"/>
            <a:ext cx="933450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IBM Plex Mono"/>
                <a:ea typeface="IBM Plex Mono"/>
                <a:cs typeface="IBM Plex Mono"/>
                <a:sym typeface="IBM Plex Mono"/>
              </a:rPr>
              <a:t>C4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1771650" y="6255240"/>
            <a:ext cx="6639044" cy="22860"/>
          </a:xfrm>
          <a:prstGeom prst="rect">
            <a:avLst/>
          </a:prstGeom>
          <a:solidFill>
            <a:srgbClr val="A83A22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6"/>
          <p:cNvSpPr/>
          <p:nvPr/>
        </p:nvSpPr>
        <p:spPr>
          <a:xfrm>
            <a:off x="1771650" y="6506700"/>
            <a:ext cx="6552466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Desarrollo de una solución de software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8410694" y="6255240"/>
            <a:ext cx="8962906" cy="22860"/>
          </a:xfrm>
          <a:prstGeom prst="rect">
            <a:avLst/>
          </a:prstGeom>
          <a:solidFill>
            <a:srgbClr val="A83A22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16"/>
          <p:cNvSpPr/>
          <p:nvPr/>
        </p:nvSpPr>
        <p:spPr>
          <a:xfrm>
            <a:off x="8410694" y="6506700"/>
            <a:ext cx="9231793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461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La aplicación completa, desplegada y funcionando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914400" y="7927693"/>
            <a:ext cx="857250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16"/>
          <p:cNvSpPr/>
          <p:nvPr/>
        </p:nvSpPr>
        <p:spPr>
          <a:xfrm>
            <a:off x="914400" y="7102827"/>
            <a:ext cx="857250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6"/>
          <p:cNvSpPr/>
          <p:nvPr/>
        </p:nvSpPr>
        <p:spPr>
          <a:xfrm>
            <a:off x="914400" y="7339047"/>
            <a:ext cx="933450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950"/>
              <a:buFont typeface="IBM Plex Mono"/>
              <a:buNone/>
            </a:pPr>
            <a:r>
              <a:rPr b="0" i="0" lang="en-US" sz="19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C5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6"/>
          <p:cNvSpPr/>
          <p:nvPr/>
        </p:nvSpPr>
        <p:spPr>
          <a:xfrm>
            <a:off x="1771650" y="7927693"/>
            <a:ext cx="6639044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6"/>
          <p:cNvSpPr/>
          <p:nvPr/>
        </p:nvSpPr>
        <p:spPr>
          <a:xfrm>
            <a:off x="1771650" y="7102827"/>
            <a:ext cx="6639044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6"/>
          <p:cNvSpPr/>
          <p:nvPr/>
        </p:nvSpPr>
        <p:spPr>
          <a:xfrm>
            <a:off x="1771650" y="7339047"/>
            <a:ext cx="6552466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Inglés en situaciones socio-laborales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6"/>
          <p:cNvSpPr/>
          <p:nvPr/>
        </p:nvSpPr>
        <p:spPr>
          <a:xfrm>
            <a:off x="8410694" y="7927693"/>
            <a:ext cx="8962906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16"/>
          <p:cNvSpPr/>
          <p:nvPr/>
        </p:nvSpPr>
        <p:spPr>
          <a:xfrm>
            <a:off x="8410694" y="7102827"/>
            <a:ext cx="8962906" cy="9525"/>
          </a:xfrm>
          <a:prstGeom prst="rect">
            <a:avLst/>
          </a:prstGeom>
          <a:solidFill>
            <a:srgbClr val="D8D0C3">
              <a:alpha val="9294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6"/>
          <p:cNvSpPr/>
          <p:nvPr/>
        </p:nvSpPr>
        <p:spPr>
          <a:xfrm>
            <a:off x="8410694" y="7339047"/>
            <a:ext cx="9231793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461"/>
              </a:lnSpc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5C5245"/>
                </a:solidFill>
                <a:latin typeface="Work Sans"/>
                <a:ea typeface="Work Sans"/>
                <a:cs typeface="Work Sans"/>
                <a:sym typeface="Work Sans"/>
              </a:rPr>
              <a:t>Entregables optativos en inglés de las tres fases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6"/>
          <p:cNvSpPr/>
          <p:nvPr/>
        </p:nvSpPr>
        <p:spPr>
          <a:xfrm>
            <a:off x="914400" y="8235471"/>
            <a:ext cx="18105120" cy="39719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El proyecto </a:t>
            </a:r>
            <a:r>
              <a:rPr lang="en-US" sz="1950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integra</a:t>
            </a:r>
            <a:r>
              <a:rPr b="0" i="0" lang="en-US" sz="1950" u="none" cap="none" strike="noStrike">
                <a:solidFill>
                  <a:srgbClr val="A83A22"/>
                </a:solidFill>
                <a:latin typeface="Work Sans"/>
                <a:ea typeface="Work Sans"/>
                <a:cs typeface="Work Sans"/>
                <a:sym typeface="Work Sans"/>
              </a:rPr>
              <a:t> cuatro competencias de forma directa.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6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1" name="Google Shape;551;p16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7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7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7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7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Riesgos y mitigación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914400" y="2699461"/>
            <a:ext cx="6907649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7"/>
          <p:cNvSpPr/>
          <p:nvPr/>
        </p:nvSpPr>
        <p:spPr>
          <a:xfrm>
            <a:off x="914400" y="2969976"/>
            <a:ext cx="7114800" cy="9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El </a:t>
            </a:r>
            <a:r>
              <a:rPr lang="en-US" sz="2100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cliente </a:t>
            </a: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real no autorizó el proyecto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8393549" y="2699461"/>
            <a:ext cx="8979932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17"/>
          <p:cNvSpPr/>
          <p:nvPr/>
        </p:nvSpPr>
        <p:spPr>
          <a:xfrm>
            <a:off x="8393550" y="2864275"/>
            <a:ext cx="9596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lang="en-US" sz="195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riesgo estaba identificado con su plan de respuesta desde antes de que ocurriera. Se pasó a un caso de estudio definido por el equipo y ningún entregable quedó bloqueado. 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914400" y="3938487"/>
            <a:ext cx="6907649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17"/>
          <p:cNvSpPr/>
          <p:nvPr/>
        </p:nvSpPr>
        <p:spPr>
          <a:xfrm>
            <a:off x="914400" y="4193757"/>
            <a:ext cx="7114879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Bloqueo en la integración con Transbank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8393549" y="3938487"/>
            <a:ext cx="8979932" cy="9525"/>
          </a:xfrm>
          <a:prstGeom prst="rect">
            <a:avLst/>
          </a:prstGeom>
          <a:solidFill>
            <a:srgbClr val="D8D0C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17"/>
          <p:cNvSpPr/>
          <p:nvPr/>
        </p:nvSpPr>
        <p:spPr>
          <a:xfrm>
            <a:off x="8393549" y="4193757"/>
            <a:ext cx="924933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Explorar el ambiente de integración antes del sprint correspondiente, no durante.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7"/>
          <p:cNvSpPr/>
          <p:nvPr/>
        </p:nvSpPr>
        <p:spPr>
          <a:xfrm>
            <a:off x="914400" y="5136820"/>
            <a:ext cx="6907649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17"/>
          <p:cNvSpPr/>
          <p:nvPr/>
        </p:nvSpPr>
        <p:spPr>
          <a:xfrm>
            <a:off x="914400" y="5392090"/>
            <a:ext cx="7114879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Alcance que crece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7"/>
          <p:cNvSpPr/>
          <p:nvPr/>
        </p:nvSpPr>
        <p:spPr>
          <a:xfrm>
            <a:off x="8393549" y="5136820"/>
            <a:ext cx="8979932" cy="9525"/>
          </a:xfrm>
          <a:prstGeom prst="rect">
            <a:avLst/>
          </a:prstGeom>
          <a:solidFill>
            <a:srgbClr val="D8D0C3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7"/>
          <p:cNvSpPr/>
          <p:nvPr/>
        </p:nvSpPr>
        <p:spPr>
          <a:xfrm>
            <a:off x="8393549" y="5392090"/>
            <a:ext cx="924933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El corte de la semana 10 obliga a tener el flujo completo hasta antes de pagar.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7"/>
          <p:cNvSpPr/>
          <p:nvPr/>
        </p:nvSpPr>
        <p:spPr>
          <a:xfrm>
            <a:off x="914400" y="7200099"/>
            <a:ext cx="6907649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17"/>
          <p:cNvSpPr/>
          <p:nvPr/>
        </p:nvSpPr>
        <p:spPr>
          <a:xfrm>
            <a:off x="914400" y="6337134"/>
            <a:ext cx="6907649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7"/>
          <p:cNvSpPr/>
          <p:nvPr/>
        </p:nvSpPr>
        <p:spPr>
          <a:xfrm>
            <a:off x="914400" y="6592404"/>
            <a:ext cx="7114879" cy="398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100"/>
              <a:buFont typeface="Work Sans"/>
              <a:buNone/>
            </a:pPr>
            <a:r>
              <a:rPr b="0" i="0" lang="en-US" sz="2100" u="none" cap="none" strike="noStrike">
                <a:solidFill>
                  <a:srgbClr val="17140F"/>
                </a:solidFill>
                <a:latin typeface="Work Sans"/>
                <a:ea typeface="Work Sans"/>
                <a:cs typeface="Work Sans"/>
                <a:sym typeface="Work Sans"/>
              </a:rPr>
              <a:t>Sin señal ni wifi en las mesas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8393549" y="7186764"/>
            <a:ext cx="8979932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7"/>
          <p:cNvSpPr/>
          <p:nvPr/>
        </p:nvSpPr>
        <p:spPr>
          <a:xfrm>
            <a:off x="8393549" y="6337134"/>
            <a:ext cx="8979932" cy="9525"/>
          </a:xfrm>
          <a:prstGeom prst="rect">
            <a:avLst/>
          </a:prstGeom>
          <a:solidFill>
            <a:srgbClr val="D8D0C3">
              <a:alpha val="9686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7"/>
          <p:cNvSpPr/>
          <p:nvPr/>
        </p:nvSpPr>
        <p:spPr>
          <a:xfrm>
            <a:off x="8393549" y="6592404"/>
            <a:ext cx="9249330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737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Limitación declarada del contexto de uso.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81" name="Google Shape;581;p17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gallery dir="l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18"/>
          <p:cNvSpPr/>
          <p:nvPr/>
        </p:nvSpPr>
        <p:spPr>
          <a:xfrm>
            <a:off x="914400" y="685800"/>
            <a:ext cx="609600" cy="609600"/>
          </a:xfrm>
          <a:prstGeom prst="roundRect">
            <a:avLst>
              <a:gd fmla="val 28125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18"/>
          <p:cNvSpPr/>
          <p:nvPr/>
        </p:nvSpPr>
        <p:spPr>
          <a:xfrm>
            <a:off x="8191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18"/>
          <p:cNvSpPr/>
          <p:nvPr/>
        </p:nvSpPr>
        <p:spPr>
          <a:xfrm>
            <a:off x="1428750" y="895350"/>
            <a:ext cx="190500" cy="1905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18"/>
          <p:cNvSpPr/>
          <p:nvPr/>
        </p:nvSpPr>
        <p:spPr>
          <a:xfrm>
            <a:off x="1057275" y="823913"/>
            <a:ext cx="4000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189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8"/>
          <p:cNvSpPr/>
          <p:nvPr/>
        </p:nvSpPr>
        <p:spPr>
          <a:xfrm>
            <a:off x="1828800" y="1600200"/>
            <a:ext cx="17190720" cy="7181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5100"/>
              <a:buFont typeface="Fraunces"/>
              <a:buNone/>
            </a:pPr>
            <a:r>
              <a:rPr b="1" i="0" lang="en-US" sz="51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Conclusión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8"/>
          <p:cNvSpPr/>
          <p:nvPr/>
        </p:nvSpPr>
        <p:spPr>
          <a:xfrm>
            <a:off x="914400" y="2699461"/>
            <a:ext cx="5206961" cy="3728085"/>
          </a:xfrm>
          <a:prstGeom prst="rect">
            <a:avLst/>
          </a:prstGeom>
          <a:solidFill>
            <a:srgbClr val="F3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18"/>
          <p:cNvSpPr/>
          <p:nvPr/>
        </p:nvSpPr>
        <p:spPr>
          <a:xfrm>
            <a:off x="914400" y="2699461"/>
            <a:ext cx="5206961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18"/>
          <p:cNvSpPr/>
          <p:nvPr/>
        </p:nvSpPr>
        <p:spPr>
          <a:xfrm>
            <a:off x="1238250" y="3008071"/>
            <a:ext cx="5015186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Qué construimos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8"/>
          <p:cNvSpPr/>
          <p:nvPr/>
        </p:nvSpPr>
        <p:spPr>
          <a:xfrm>
            <a:off x="1238250" y="3583381"/>
            <a:ext cx="4696038" cy="183356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Un sistema donde la cocina solo prepara lo que ya está pagado. Eso elimina el consumo sin pago, elimina el momento de pedir la cuenta, y libera al personal de tomar la orden.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8"/>
          <p:cNvSpPr/>
          <p:nvPr/>
        </p:nvSpPr>
        <p:spPr>
          <a:xfrm>
            <a:off x="6540461" y="2700238"/>
            <a:ext cx="5206961" cy="3728085"/>
          </a:xfrm>
          <a:prstGeom prst="rect">
            <a:avLst/>
          </a:prstGeom>
          <a:solidFill>
            <a:srgbClr val="F3EA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18"/>
          <p:cNvSpPr/>
          <p:nvPr/>
        </p:nvSpPr>
        <p:spPr>
          <a:xfrm>
            <a:off x="6540461" y="2700238"/>
            <a:ext cx="5206961" cy="22860"/>
          </a:xfrm>
          <a:prstGeom prst="rect">
            <a:avLst/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8"/>
          <p:cNvSpPr/>
          <p:nvPr/>
        </p:nvSpPr>
        <p:spPr>
          <a:xfrm>
            <a:off x="6864311" y="3008848"/>
            <a:ext cx="5015186" cy="441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Por qué se sostiene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6864311" y="3584158"/>
            <a:ext cx="4696038" cy="255174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Cada decisión importante quedó registrada con sus alternativas y su motivo: por qué solo tarjeta, por qué monolito y no microservicios, por qué sin framework de frontend. Podemos explicar no solo qué hicimos, sino </a:t>
            </a:r>
            <a:r>
              <a:rPr lang="en-US" sz="1950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que</a:t>
            </a: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 descartamos.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8"/>
          <p:cNvSpPr/>
          <p:nvPr/>
        </p:nvSpPr>
        <p:spPr>
          <a:xfrm>
            <a:off x="12166521" y="2702231"/>
            <a:ext cx="5206961" cy="3728085"/>
          </a:xfrm>
          <a:prstGeom prst="rect">
            <a:avLst/>
          </a:prstGeom>
          <a:solidFill>
            <a:srgbClr val="F3EADC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18"/>
          <p:cNvSpPr/>
          <p:nvPr/>
        </p:nvSpPr>
        <p:spPr>
          <a:xfrm>
            <a:off x="12166521" y="2702231"/>
            <a:ext cx="5206961" cy="22860"/>
          </a:xfrm>
          <a:prstGeom prst="rect">
            <a:avLst/>
          </a:prstGeom>
          <a:solidFill>
            <a:srgbClr val="A83A22">
              <a:alpha val="9882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p18"/>
          <p:cNvSpPr/>
          <p:nvPr/>
        </p:nvSpPr>
        <p:spPr>
          <a:xfrm>
            <a:off x="12490371" y="3010841"/>
            <a:ext cx="4696038" cy="8458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2550"/>
              <a:buFont typeface="Fraunces"/>
              <a:buNone/>
            </a:pPr>
            <a:r>
              <a:rPr b="1" i="0" lang="en-US" sz="255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Qué vamos a tener en la semana 15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8"/>
          <p:cNvSpPr/>
          <p:nvPr/>
        </p:nvSpPr>
        <p:spPr>
          <a:xfrm>
            <a:off x="12490371" y="3990011"/>
            <a:ext cx="4696038" cy="21926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4013"/>
              </a:lnSpc>
              <a:spcBef>
                <a:spcPts val="0"/>
              </a:spcBef>
              <a:spcAft>
                <a:spcPts val="0"/>
              </a:spcAft>
              <a:buClr>
                <a:srgbClr val="3B342B"/>
              </a:buClr>
              <a:buSzPts val="1950"/>
              <a:buFont typeface="Work Sans"/>
              <a:buNone/>
            </a:pPr>
            <a:r>
              <a:rPr b="0" i="0" lang="en-US" sz="1950" u="none" cap="none" strike="noStrike">
                <a:solidFill>
                  <a:srgbClr val="3B342B"/>
                </a:solidFill>
                <a:latin typeface="Work Sans"/>
                <a:ea typeface="Work Sans"/>
                <a:cs typeface="Work Sans"/>
                <a:sym typeface="Work Sans"/>
              </a:rPr>
              <a:t>La aplicación desplegada y funcionando, el pago operativo en el ambiente de integración de Transbank, y las pruebas de usabilidad hechas con usuarios reales.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8"/>
          <p:cNvSpPr/>
          <p:nvPr/>
        </p:nvSpPr>
        <p:spPr>
          <a:xfrm>
            <a:off x="667512" y="7893522"/>
            <a:ext cx="16952976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97826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4500"/>
              <a:buFont typeface="Fraunces"/>
              <a:buNone/>
            </a:pPr>
            <a:r>
              <a:rPr b="1" i="0" lang="en-US" sz="45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“El sistema no reemplaza al personal: </a:t>
            </a:r>
            <a:r>
              <a:rPr b="1" i="0" lang="en-US" sz="4500" u="none" cap="none" strike="noStrike">
                <a:solidFill>
                  <a:srgbClr val="A83A22"/>
                </a:solidFill>
                <a:latin typeface="Fraunces"/>
                <a:ea typeface="Fraunces"/>
                <a:cs typeface="Fraunces"/>
                <a:sym typeface="Fraunces"/>
              </a:rPr>
              <a:t>lo libera</a:t>
            </a:r>
            <a:r>
              <a:rPr b="1" i="0" lang="en-US" sz="45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.”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8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6" name="Google Shape;606;p18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F0"/>
        </a:solidFill>
      </p:bgPr>
    </p:bg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9"/>
          <p:cNvSpPr/>
          <p:nvPr/>
        </p:nvSpPr>
        <p:spPr>
          <a:xfrm>
            <a:off x="8572500" y="2998470"/>
            <a:ext cx="1143000" cy="1143000"/>
          </a:xfrm>
          <a:prstGeom prst="roundRect">
            <a:avLst>
              <a:gd fmla="val 28333" name="adj"/>
            </a:avLst>
          </a:prstGeom>
          <a:solidFill>
            <a:srgbClr val="A83A2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p19"/>
          <p:cNvSpPr/>
          <p:nvPr/>
        </p:nvSpPr>
        <p:spPr>
          <a:xfrm>
            <a:off x="8401050" y="3398520"/>
            <a:ext cx="342900" cy="3429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19"/>
          <p:cNvSpPr/>
          <p:nvPr/>
        </p:nvSpPr>
        <p:spPr>
          <a:xfrm>
            <a:off x="9544050" y="3398520"/>
            <a:ext cx="342900" cy="342900"/>
          </a:xfrm>
          <a:prstGeom prst="ellipse">
            <a:avLst/>
          </a:prstGeom>
          <a:solidFill>
            <a:srgbClr val="FBF7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19"/>
          <p:cNvSpPr/>
          <p:nvPr/>
        </p:nvSpPr>
        <p:spPr>
          <a:xfrm>
            <a:off x="8839200" y="3255645"/>
            <a:ext cx="6858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1633"/>
              </a:lnSpc>
              <a:spcBef>
                <a:spcPts val="0"/>
              </a:spcBef>
              <a:spcAft>
                <a:spcPts val="0"/>
              </a:spcAft>
              <a:buClr>
                <a:srgbClr val="FBF7F0"/>
              </a:buClr>
              <a:buSzPts val="4800"/>
              <a:buFont typeface="Fraunces"/>
              <a:buNone/>
            </a:pPr>
            <a:r>
              <a:rPr b="1" i="0" lang="en-US" sz="4800" u="none" cap="none" strike="noStrike">
                <a:solidFill>
                  <a:srgbClr val="FBF7F0"/>
                </a:solidFill>
                <a:latin typeface="Fraunces"/>
                <a:ea typeface="Fraunces"/>
                <a:cs typeface="Fraunces"/>
                <a:sym typeface="Fraunces"/>
              </a:rPr>
              <a:t>券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7032546" y="4674945"/>
            <a:ext cx="464520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1081"/>
              </a:lnSpc>
              <a:spcBef>
                <a:spcPts val="0"/>
              </a:spcBef>
              <a:spcAft>
                <a:spcPts val="0"/>
              </a:spcAft>
              <a:buClr>
                <a:srgbClr val="17140F"/>
              </a:buClr>
              <a:buSzPts val="9000"/>
              <a:buFont typeface="Fraunces"/>
              <a:buNone/>
            </a:pPr>
            <a:r>
              <a:rPr b="1" i="0" lang="en-US" sz="9000" u="none" cap="none" strike="noStrike">
                <a:solidFill>
                  <a:srgbClr val="17140F"/>
                </a:solidFill>
                <a:latin typeface="Fraunces"/>
                <a:ea typeface="Fraunces"/>
                <a:cs typeface="Fraunces"/>
                <a:sym typeface="Fraunces"/>
              </a:rPr>
              <a:t>Gracias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/>
          <p:nvPr/>
        </p:nvSpPr>
        <p:spPr>
          <a:xfrm>
            <a:off x="7764542" y="6085422"/>
            <a:ext cx="3034677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1081"/>
              </a:lnSpc>
              <a:spcBef>
                <a:spcPts val="0"/>
              </a:spcBef>
              <a:spcAft>
                <a:spcPts val="0"/>
              </a:spcAft>
              <a:buClr>
                <a:srgbClr val="A83A22"/>
              </a:buClr>
              <a:buSzPts val="3600"/>
              <a:buFont typeface="Fraunces"/>
              <a:buNone/>
            </a:pPr>
            <a:r>
              <a:rPr b="1" i="0" lang="en-US" sz="3600" u="none" cap="none" strike="noStrike">
                <a:solidFill>
                  <a:srgbClr val="A83A22"/>
                </a:solidFill>
                <a:latin typeface="Fraunces"/>
                <a:ea typeface="Fraunces"/>
                <a:cs typeface="Fraunces"/>
                <a:sym typeface="Fraunces"/>
              </a:rPr>
              <a:t>¿Preguntas?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7372350" y="7039914"/>
            <a:ext cx="3897630" cy="2895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500"/>
              <a:buFont typeface="IBM Plex Mono"/>
              <a:buNone/>
            </a:pPr>
            <a:r>
              <a:rPr b="0" i="0" lang="en-US" sz="150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Sebastián Delgado · Gian Cabana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9"/>
          <p:cNvSpPr/>
          <p:nvPr/>
        </p:nvSpPr>
        <p:spPr>
          <a:xfrm>
            <a:off x="914400" y="9456420"/>
            <a:ext cx="281940" cy="259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5245"/>
              </a:buClr>
              <a:buSzPts val="1350"/>
              <a:buFont typeface="IBM Plex Mono"/>
              <a:buNone/>
            </a:pPr>
            <a:r>
              <a:rPr b="0" i="0" lang="en-US" sz="1350" u="none" cap="none" strike="noStrike">
                <a:solidFill>
                  <a:srgbClr val="5C5245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0" name="Google Shape;620;p19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15944850" y="9402723"/>
            <a:ext cx="1428750" cy="350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med">
        <p14:gallery dir="l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